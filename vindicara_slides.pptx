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58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311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validation signals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55448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560320" cy="36576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500+</a:t>
            </a:r>
            <a:endParaRPr lang="en-US" sz="3600" dirty="0">
              <a:solidFill>
                <a:srgbClr val="00B0F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Signups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1371600"/>
            <a:ext cx="2560320" cy="155448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37560" y="1371600"/>
            <a:ext cx="2560320" cy="36576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20440" y="16459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352044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126480" y="1371600"/>
            <a:ext cx="2560320" cy="155448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6126480" y="1371600"/>
            <a:ext cx="2560320" cy="36576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6459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4"/>
          <p:cNvSpPr/>
          <p:nvPr/>
        </p:nvSpPr>
        <p:spPr>
          <a:xfrm>
            <a:off x="630936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Pipeline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48640" y="3703320"/>
            <a:ext cx="137160" cy="13716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85800" y="3767328"/>
            <a:ext cx="2011680" cy="0"/>
          </a:xfrm>
          <a:prstGeom prst="line">
            <a:avLst/>
          </a:prstGeom>
          <a:noFill/>
          <a:ln w="1905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57200" y="3931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2026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720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built, core SDK functional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5" name="Shape 20"/>
          <p:cNvSpPr/>
          <p:nvPr/>
        </p:nvSpPr>
        <p:spPr>
          <a:xfrm>
            <a:off x="2697480" y="3703320"/>
            <a:ext cx="137160" cy="13716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2834640" y="3767328"/>
            <a:ext cx="2011680" cy="0"/>
          </a:xfrm>
          <a:prstGeom prst="line">
            <a:avLst/>
          </a:prstGeom>
          <a:noFill/>
          <a:ln w="1905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2606040" y="3931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260604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 with 5 design partners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9" name="Shape 24"/>
          <p:cNvSpPr/>
          <p:nvPr/>
        </p:nvSpPr>
        <p:spPr>
          <a:xfrm>
            <a:off x="4846320" y="3703320"/>
            <a:ext cx="137160" cy="13716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983480" y="3767328"/>
            <a:ext cx="2011680" cy="0"/>
          </a:xfrm>
          <a:prstGeom prst="line">
            <a:avLst/>
          </a:prstGeom>
          <a:noFill/>
          <a:ln w="1905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4754880" y="3931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75488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launch, first paying customers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3" name="Shape 28"/>
          <p:cNvSpPr/>
          <p:nvPr/>
        </p:nvSpPr>
        <p:spPr>
          <a:xfrm>
            <a:off x="6995160" y="3703320"/>
            <a:ext cx="137160" cy="13716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903720" y="3931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2026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90372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I, enterprise pilot</a:t>
            </a:r>
            <a:endParaRPr lang="en-US" sz="1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394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149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technical founder, full-stack execution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40480" cy="310896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40480" cy="36576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Kev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50008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SWE-level builder: ships full-stack products 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85292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B.S. Cybersecurity (4.0 GPA) providing deep security domain expertise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35584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SLTR Digital: building 6 AI products simultaneously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5876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125+ countries visited, deep cross-cultural market intuition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484632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Near-Term Hiring Plan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4846320" y="1828800"/>
            <a:ext cx="3840480" cy="77724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846320" y="1828800"/>
            <a:ext cx="54864" cy="7772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512064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Founding Engineer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680960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Post-seed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120640" y="2212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Backend/infra, SDK reliability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846320" y="2697480"/>
            <a:ext cx="3840480" cy="77724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846320" y="2697480"/>
            <a:ext cx="54864" cy="7772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120640" y="2770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Advocate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680960" y="2770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120640" y="3081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docs, developer onboarding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846320" y="3566160"/>
            <a:ext cx="3840480" cy="77724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846320" y="3566160"/>
            <a:ext cx="54864" cy="7772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512064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Researcher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680960" y="3639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120640" y="3950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library, red-teaming, accuracy benchmarks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846320" y="4526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 actively forming from enterprise security and developer tools leaders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Developer-first,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growthproduct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-led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114800" cy="713232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90472"/>
            <a:ext cx="320040" cy="320040"/>
          </a:xfrm>
          <a:prstGeom prst="rect">
            <a:avLst/>
          </a:prstGeom>
          <a:noFill/>
        </p:spPr>
      </p:pic>
      <p:sp>
        <p:nvSpPr>
          <p:cNvPr id="7" name="Text 4"/>
          <p:cNvSpPr/>
          <p:nvPr/>
        </p:nvSpPr>
        <p:spPr>
          <a:xfrm>
            <a:off x="1188720" y="1380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 Hooks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673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SDK tier with community policies. Developers try, teams buy.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4114800" cy="713232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5915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249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&amp; SEO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88720" y="2542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benchmarks, guardrail tutorials, compliance guides. Organic inbound.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4114800" cy="713232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27832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Community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88720" y="3410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Discord/Slack community, hackathon sponsorships, conference talks.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3931920"/>
            <a:ext cx="4114800" cy="713232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9651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986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Sales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88720" y="4279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with a team, expand to org. Direct outreach to AI-first companies.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1206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Self-Serve Pricing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120640" y="1828800"/>
            <a:ext cx="3657600" cy="54864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5349240" y="18653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92240" y="1865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$0/mo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349240" y="2103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intercepts/mo, community policies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120640" y="2514600"/>
            <a:ext cx="3657600" cy="54864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5349240" y="25511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Startup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492240" y="25511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$49/mo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34924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intercepts, custom policies, dashboard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120640" y="3200400"/>
            <a:ext cx="3657600" cy="548640"/>
          </a:xfrm>
          <a:prstGeom prst="rect">
            <a:avLst/>
          </a:prstGeom>
          <a:solidFill>
            <a:srgbClr val="0A7B6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5120640" y="3200400"/>
            <a:ext cx="54864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349240" y="32369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492240" y="32369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$199/mo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34924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intercepts, audit logs, SSO, priority support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5120640" y="3886200"/>
            <a:ext cx="3657600" cy="54864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5349240" y="3922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6492240" y="39227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534924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Unlimited, SLA, on-prem, dedicated support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512064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 &amp; EXPAND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5120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→ Team adoption → Org-wide deployment → Enterprise contract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model-agnostic, developer-first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686800" cy="50292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280160"/>
            <a:ext cx="1298448" cy="502920"/>
          </a:xfrm>
          <a:prstGeom prst="rect">
            <a:avLst/>
          </a:prstGeom>
          <a:solidFill>
            <a:srgbClr val="0A7B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2801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Vindicara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50208" y="12801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C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AI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48656" y="12801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C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Lakera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BC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(Check Point)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47104" y="12801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C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CalypsoAI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BC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(F5)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45552" y="12801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C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Superwise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686800" cy="384048"/>
          </a:xfrm>
          <a:prstGeom prst="rect">
            <a:avLst/>
          </a:prstGeom>
          <a:solidFill>
            <a:srgbClr val="0F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51760" y="1783080"/>
            <a:ext cx="1298448" cy="384048"/>
          </a:xfrm>
          <a:prstGeom prst="rect">
            <a:avLst/>
          </a:prstGeom>
          <a:solidFill>
            <a:srgbClr val="0A7B6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17830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0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74520"/>
            <a:ext cx="201168" cy="201168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1874520"/>
            <a:ext cx="201168" cy="201168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874520"/>
            <a:ext cx="201168" cy="201168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1874520"/>
            <a:ext cx="201168" cy="201168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1874520"/>
            <a:ext cx="201168" cy="20116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57200" y="2167128"/>
            <a:ext cx="8686800" cy="384048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2651760" y="2167128"/>
            <a:ext cx="1298448" cy="384048"/>
          </a:xfrm>
          <a:prstGeom prst="rect">
            <a:avLst/>
          </a:prstGeom>
          <a:solidFill>
            <a:srgbClr val="0A7B6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594360" y="21671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Pricing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58568"/>
            <a:ext cx="201168" cy="201168"/>
          </a:xfrm>
          <a:prstGeom prst="rect">
            <a:avLst/>
          </a:prstGeom>
        </p:spPr>
      </p:pic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2258568"/>
            <a:ext cx="201168" cy="201168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96" y="2258568"/>
            <a:ext cx="201168" cy="201168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2258568"/>
            <a:ext cx="201168" cy="201168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2258568"/>
            <a:ext cx="201168" cy="201168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457200" y="2551176"/>
            <a:ext cx="8686800" cy="384048"/>
          </a:xfrm>
          <a:prstGeom prst="rect">
            <a:avLst/>
          </a:prstGeom>
          <a:solidFill>
            <a:srgbClr val="0F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18"/>
          <p:cNvSpPr/>
          <p:nvPr/>
        </p:nvSpPr>
        <p:spPr>
          <a:xfrm>
            <a:off x="2651760" y="2551176"/>
            <a:ext cx="1298448" cy="384048"/>
          </a:xfrm>
          <a:prstGeom prst="rect">
            <a:avLst/>
          </a:prstGeom>
          <a:solidFill>
            <a:srgbClr val="0A7B6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9"/>
          <p:cNvSpPr/>
          <p:nvPr/>
        </p:nvSpPr>
        <p:spPr>
          <a:xfrm>
            <a:off x="594360" y="255117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Intercept</a:t>
            </a:r>
            <a:endParaRPr lang="en-US" sz="105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642616"/>
            <a:ext cx="201168" cy="201168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642616"/>
            <a:ext cx="201168" cy="201168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2642616"/>
            <a:ext cx="201168" cy="201168"/>
          </a:xfrm>
          <a:prstGeom prst="rect">
            <a:avLst/>
          </a:prstGeom>
        </p:spPr>
      </p:pic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2642616"/>
            <a:ext cx="201168" cy="201168"/>
          </a:xfrm>
          <a:prstGeom prst="rect">
            <a:avLst/>
          </a:prstGeom>
        </p:spPr>
      </p:pic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2642616"/>
            <a:ext cx="201168" cy="201168"/>
          </a:xfrm>
          <a:prstGeom prst="rect">
            <a:avLst/>
          </a:prstGeom>
        </p:spPr>
      </p:pic>
      <p:sp>
        <p:nvSpPr>
          <p:cNvPr id="37" name="Shape 20"/>
          <p:cNvSpPr/>
          <p:nvPr/>
        </p:nvSpPr>
        <p:spPr>
          <a:xfrm>
            <a:off x="457200" y="2935224"/>
            <a:ext cx="8686800" cy="384048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21"/>
          <p:cNvSpPr/>
          <p:nvPr/>
        </p:nvSpPr>
        <p:spPr>
          <a:xfrm>
            <a:off x="2651760" y="2935224"/>
            <a:ext cx="1298448" cy="384048"/>
          </a:xfrm>
          <a:prstGeom prst="rect">
            <a:avLst/>
          </a:prstGeom>
          <a:solidFill>
            <a:srgbClr val="0A7B6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22"/>
          <p:cNvSpPr/>
          <p:nvPr/>
        </p:nvSpPr>
        <p:spPr>
          <a:xfrm>
            <a:off x="594360" y="293522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Policy Engine</a:t>
            </a:r>
            <a:endParaRPr lang="en-US" sz="1050" dirty="0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026664"/>
            <a:ext cx="201168" cy="201168"/>
          </a:xfrm>
          <a:prstGeom prst="rect">
            <a:avLst/>
          </a:prstGeom>
        </p:spPr>
      </p:pic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3026664"/>
            <a:ext cx="201168" cy="201168"/>
          </a:xfrm>
          <a:prstGeom prst="rect">
            <a:avLst/>
          </a:prstGeom>
        </p:spPr>
      </p:pic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3026664"/>
            <a:ext cx="201168" cy="201168"/>
          </a:xfrm>
          <a:prstGeom prst="rect">
            <a:avLst/>
          </a:prstGeom>
        </p:spPr>
      </p:pic>
      <p:pic>
        <p:nvPicPr>
          <p:cNvPr id="43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3026664"/>
            <a:ext cx="201168" cy="201168"/>
          </a:xfrm>
          <a:prstGeom prst="rect">
            <a:avLst/>
          </a:prstGeom>
        </p:spPr>
      </p:pic>
      <p:pic>
        <p:nvPicPr>
          <p:cNvPr id="44" name="Image 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3026664"/>
            <a:ext cx="201168" cy="201168"/>
          </a:xfrm>
          <a:prstGeom prst="rect">
            <a:avLst/>
          </a:prstGeom>
        </p:spPr>
      </p:pic>
      <p:sp>
        <p:nvSpPr>
          <p:cNvPr id="45" name="Shape 23"/>
          <p:cNvSpPr/>
          <p:nvPr/>
        </p:nvSpPr>
        <p:spPr>
          <a:xfrm>
            <a:off x="457200" y="3319272"/>
            <a:ext cx="8686800" cy="384048"/>
          </a:xfrm>
          <a:prstGeom prst="rect">
            <a:avLst/>
          </a:prstGeom>
          <a:solidFill>
            <a:srgbClr val="0F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24"/>
          <p:cNvSpPr/>
          <p:nvPr/>
        </p:nvSpPr>
        <p:spPr>
          <a:xfrm>
            <a:off x="2651760" y="3319272"/>
            <a:ext cx="1298448" cy="384048"/>
          </a:xfrm>
          <a:prstGeom prst="rect">
            <a:avLst/>
          </a:prstGeom>
          <a:solidFill>
            <a:srgbClr val="0A7B6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25"/>
          <p:cNvSpPr/>
          <p:nvPr/>
        </p:nvSpPr>
        <p:spPr>
          <a:xfrm>
            <a:off x="594360" y="33192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/ Compliance</a:t>
            </a:r>
            <a:endParaRPr lang="en-US" sz="1050" dirty="0"/>
          </a:p>
        </p:txBody>
      </p:sp>
      <p:pic>
        <p:nvPicPr>
          <p:cNvPr id="48" name="Image 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410712"/>
            <a:ext cx="201168" cy="201168"/>
          </a:xfrm>
          <a:prstGeom prst="rect">
            <a:avLst/>
          </a:prstGeom>
        </p:spPr>
      </p:pic>
      <p:pic>
        <p:nvPicPr>
          <p:cNvPr id="49" name="Image 2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3410712"/>
            <a:ext cx="201168" cy="201168"/>
          </a:xfrm>
          <a:prstGeom prst="rect">
            <a:avLst/>
          </a:prstGeom>
        </p:spPr>
      </p:pic>
      <p:pic>
        <p:nvPicPr>
          <p:cNvPr id="50" name="Image 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3410712"/>
            <a:ext cx="201168" cy="201168"/>
          </a:xfrm>
          <a:prstGeom prst="rect">
            <a:avLst/>
          </a:prstGeom>
        </p:spPr>
      </p:pic>
      <p:pic>
        <p:nvPicPr>
          <p:cNvPr id="51" name="Image 2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3410712"/>
            <a:ext cx="201168" cy="201168"/>
          </a:xfrm>
          <a:prstGeom prst="rect">
            <a:avLst/>
          </a:prstGeom>
        </p:spPr>
      </p:pic>
      <p:pic>
        <p:nvPicPr>
          <p:cNvPr id="52" name="Image 2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3410712"/>
            <a:ext cx="201168" cy="201168"/>
          </a:xfrm>
          <a:prstGeom prst="rect">
            <a:avLst/>
          </a:prstGeom>
        </p:spPr>
      </p:pic>
      <p:sp>
        <p:nvSpPr>
          <p:cNvPr id="53" name="Shape 26"/>
          <p:cNvSpPr/>
          <p:nvPr/>
        </p:nvSpPr>
        <p:spPr>
          <a:xfrm>
            <a:off x="457200" y="3703320"/>
            <a:ext cx="8686800" cy="384048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27"/>
          <p:cNvSpPr/>
          <p:nvPr/>
        </p:nvSpPr>
        <p:spPr>
          <a:xfrm>
            <a:off x="2651760" y="3703320"/>
            <a:ext cx="1298448" cy="384048"/>
          </a:xfrm>
          <a:prstGeom prst="rect">
            <a:avLst/>
          </a:prstGeom>
          <a:solidFill>
            <a:srgbClr val="0A7B6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28"/>
          <p:cNvSpPr/>
          <p:nvPr/>
        </p:nvSpPr>
        <p:spPr>
          <a:xfrm>
            <a:off x="594360" y="37033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SDK</a:t>
            </a:r>
            <a:endParaRPr lang="en-US" sz="1050" dirty="0"/>
          </a:p>
        </p:txBody>
      </p:sp>
      <p:pic>
        <p:nvPicPr>
          <p:cNvPr id="56" name="Image 2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794760"/>
            <a:ext cx="201168" cy="201168"/>
          </a:xfrm>
          <a:prstGeom prst="rect">
            <a:avLst/>
          </a:prstGeom>
        </p:spPr>
      </p:pic>
      <p:pic>
        <p:nvPicPr>
          <p:cNvPr id="57" name="Image 2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3794760"/>
            <a:ext cx="201168" cy="201168"/>
          </a:xfrm>
          <a:prstGeom prst="rect">
            <a:avLst/>
          </a:prstGeom>
        </p:spPr>
      </p:pic>
      <p:pic>
        <p:nvPicPr>
          <p:cNvPr id="58" name="Image 2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96" y="3794760"/>
            <a:ext cx="201168" cy="201168"/>
          </a:xfrm>
          <a:prstGeom prst="rect">
            <a:avLst/>
          </a:prstGeom>
        </p:spPr>
      </p:pic>
      <p:pic>
        <p:nvPicPr>
          <p:cNvPr id="59" name="Image 2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794760"/>
            <a:ext cx="201168" cy="201168"/>
          </a:xfrm>
          <a:prstGeom prst="rect">
            <a:avLst/>
          </a:prstGeom>
        </p:spPr>
      </p:pic>
      <p:pic>
        <p:nvPicPr>
          <p:cNvPr id="60" name="Image 2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3794760"/>
            <a:ext cx="201168" cy="201168"/>
          </a:xfrm>
          <a:prstGeom prst="rect">
            <a:avLst/>
          </a:prstGeom>
        </p:spPr>
      </p:pic>
      <p:sp>
        <p:nvSpPr>
          <p:cNvPr id="61" name="Shape 29"/>
          <p:cNvSpPr/>
          <p:nvPr/>
        </p:nvSpPr>
        <p:spPr>
          <a:xfrm>
            <a:off x="457200" y="4087368"/>
            <a:ext cx="8686800" cy="384048"/>
          </a:xfrm>
          <a:prstGeom prst="rect">
            <a:avLst/>
          </a:prstGeom>
          <a:solidFill>
            <a:srgbClr val="0F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30"/>
          <p:cNvSpPr/>
          <p:nvPr/>
        </p:nvSpPr>
        <p:spPr>
          <a:xfrm>
            <a:off x="2651760" y="4087368"/>
            <a:ext cx="1298448" cy="384048"/>
          </a:xfrm>
          <a:prstGeom prst="rect">
            <a:avLst/>
          </a:prstGeom>
          <a:solidFill>
            <a:srgbClr val="0A7B6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31"/>
          <p:cNvSpPr/>
          <p:nvPr/>
        </p:nvSpPr>
        <p:spPr>
          <a:xfrm>
            <a:off x="594360" y="40873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(Not Acquired)</a:t>
            </a:r>
            <a:endParaRPr lang="en-US" sz="1050" dirty="0"/>
          </a:p>
        </p:txBody>
      </p:sp>
      <p:pic>
        <p:nvPicPr>
          <p:cNvPr id="64" name="Image 3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178808"/>
            <a:ext cx="201168" cy="201168"/>
          </a:xfrm>
          <a:prstGeom prst="rect">
            <a:avLst/>
          </a:prstGeom>
        </p:spPr>
      </p:pic>
      <p:pic>
        <p:nvPicPr>
          <p:cNvPr id="65" name="Image 3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4178808"/>
            <a:ext cx="201168" cy="201168"/>
          </a:xfrm>
          <a:prstGeom prst="rect">
            <a:avLst/>
          </a:prstGeom>
        </p:spPr>
      </p:pic>
      <p:pic>
        <p:nvPicPr>
          <p:cNvPr id="66" name="Image 3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96" y="4178808"/>
            <a:ext cx="201168" cy="201168"/>
          </a:xfrm>
          <a:prstGeom prst="rect">
            <a:avLst/>
          </a:prstGeom>
        </p:spPr>
      </p:pic>
      <p:pic>
        <p:nvPicPr>
          <p:cNvPr id="67" name="Image 3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4178808"/>
            <a:ext cx="201168" cy="201168"/>
          </a:xfrm>
          <a:prstGeom prst="rect">
            <a:avLst/>
          </a:prstGeom>
        </p:spPr>
      </p:pic>
      <p:pic>
        <p:nvPicPr>
          <p:cNvPr id="68" name="Image 3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4178808"/>
            <a:ext cx="201168" cy="201168"/>
          </a:xfrm>
          <a:prstGeom prst="rect">
            <a:avLst/>
          </a:prstGeom>
        </p:spPr>
      </p:pic>
      <p:sp>
        <p:nvSpPr>
          <p:cNvPr id="69" name="Shape 32"/>
          <p:cNvSpPr/>
          <p:nvPr/>
        </p:nvSpPr>
        <p:spPr>
          <a:xfrm>
            <a:off x="457200" y="4471416"/>
            <a:ext cx="8686800" cy="384048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33"/>
          <p:cNvSpPr/>
          <p:nvPr/>
        </p:nvSpPr>
        <p:spPr>
          <a:xfrm>
            <a:off x="2651760" y="4471416"/>
            <a:ext cx="1298448" cy="384048"/>
          </a:xfrm>
          <a:prstGeom prst="rect">
            <a:avLst/>
          </a:prstGeom>
          <a:solidFill>
            <a:srgbClr val="0A7B6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34"/>
          <p:cNvSpPr/>
          <p:nvPr/>
        </p:nvSpPr>
        <p:spPr>
          <a:xfrm>
            <a:off x="594360" y="44714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SSO/On-Prem</a:t>
            </a:r>
            <a:endParaRPr lang="en-US" sz="1050" dirty="0"/>
          </a:p>
        </p:txBody>
      </p:sp>
      <p:pic>
        <p:nvPicPr>
          <p:cNvPr id="72" name="Image 3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562856"/>
            <a:ext cx="201168" cy="201168"/>
          </a:xfrm>
          <a:prstGeom prst="rect">
            <a:avLst/>
          </a:prstGeom>
        </p:spPr>
      </p:pic>
      <p:pic>
        <p:nvPicPr>
          <p:cNvPr id="73" name="Image 3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562856"/>
            <a:ext cx="201168" cy="201168"/>
          </a:xfrm>
          <a:prstGeom prst="rect">
            <a:avLst/>
          </a:prstGeom>
        </p:spPr>
      </p:pic>
      <p:pic>
        <p:nvPicPr>
          <p:cNvPr id="74" name="Image 3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4562856"/>
            <a:ext cx="201168" cy="201168"/>
          </a:xfrm>
          <a:prstGeom prst="rect">
            <a:avLst/>
          </a:prstGeom>
        </p:spPr>
      </p:pic>
      <p:pic>
        <p:nvPicPr>
          <p:cNvPr id="75" name="Image 3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4562856"/>
            <a:ext cx="201168" cy="201168"/>
          </a:xfrm>
          <a:prstGeom prst="rect">
            <a:avLst/>
          </a:prstGeom>
        </p:spPr>
      </p:pic>
      <p:pic>
        <p:nvPicPr>
          <p:cNvPr id="76" name="Image 3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4562856"/>
            <a:ext cx="201168" cy="201168"/>
          </a:xfrm>
          <a:prstGeom prst="rect">
            <a:avLst/>
          </a:prstGeom>
        </p:spPr>
      </p:pic>
      <p:sp>
        <p:nvSpPr>
          <p:cNvPr id="77" name="Text 35"/>
          <p:cNvSpPr/>
          <p:nvPr/>
        </p:nvSpPr>
        <p:spPr>
          <a:xfrm>
            <a:off x="548640" y="4855464"/>
            <a:ext cx="5678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Lakera acquired by Check Point (2025)  |  CalypsoAI acquired by F5 (2024)  |  Both now locked into parent ecosystems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349</Words>
  <Application>Microsoft Macintosh PowerPoint</Application>
  <PresentationFormat>On-screen Show (16:9)</PresentationFormat>
  <Paragraphs>85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Vindicara - Pitch Deck Supplemental Slides</dc:title>
  <dc:subject>PptxGenJS Presentation</dc:subject>
  <dc:creator>Kev - Vindicara</dc:creator>
  <cp:lastModifiedBy>Kevin Minn</cp:lastModifiedBy>
  <cp:revision>2</cp:revision>
  <dcterms:created xsi:type="dcterms:W3CDTF">2026-03-27T02:33:14Z</dcterms:created>
  <dcterms:modified xsi:type="dcterms:W3CDTF">2026-03-27T11:17:33Z</dcterms:modified>
</cp:coreProperties>
</file>