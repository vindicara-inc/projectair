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45"/>
    <p:restoredTop sz="94637"/>
  </p:normalViewPr>
  <p:slideViewPr>
    <p:cSldViewPr snapToGrid="0" snapToObjects="1">
      <p:cViewPr varScale="1">
        <p:scale>
          <a:sx n="142" d="100"/>
          <a:sy n="142" d="100"/>
        </p:scale>
        <p:origin x="184" y="32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FF31056-4885-DD46-BC28-2F292CFA0BC0}" type="datetimeFigureOut">
              <a:rPr lang="en-US" smtClean="0"/>
              <a:t>5/10/26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465DCB9-3114-6B4A-988F-A64D97D120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06276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latin typeface="Apple Braille" pitchFamily="2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65DCB9-3114-6B4A-988F-A64D97D1209F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51382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5/10/26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5/10/26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5/10/26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5/10/26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1182565"/>
            <a:ext cx="10515600" cy="2900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7280"/>
              </a:lnSpc>
              <a:spcAft>
                <a:spcPts val="0"/>
              </a:spcAft>
              <a:defRPr sz="5600" b="1">
                <a:solidFill>
                  <a:srgbClr val="1E1B2E"/>
                </a:solidFill>
                <a:latin typeface="Calibri"/>
              </a:defRPr>
            </a:pPr>
            <a:r>
              <a:rPr dirty="0">
                <a:solidFill>
                  <a:srgbClr val="FF0000"/>
                </a:solidFill>
                <a:latin typeface="Bangla MN" pitchFamily="2" charset="0"/>
                <a:cs typeface="Bangla MN" pitchFamily="2" charset="0"/>
              </a:rPr>
              <a:t>Project AIR</a:t>
            </a:r>
            <a:r>
              <a:rPr lang="en-US" dirty="0">
                <a:solidFill>
                  <a:srgbClr val="FF0000"/>
                </a:solidFill>
                <a:latin typeface="Bangla MN" pitchFamily="2" charset="0"/>
                <a:cs typeface="Bangla MN" pitchFamily="2" charset="0"/>
              </a:rPr>
              <a:t> </a:t>
            </a:r>
          </a:p>
          <a:p>
            <a:pPr algn="l">
              <a:lnSpc>
                <a:spcPts val="7280"/>
              </a:lnSpc>
              <a:spcAft>
                <a:spcPts val="0"/>
              </a:spcAft>
              <a:defRPr sz="5600" b="1">
                <a:solidFill>
                  <a:srgbClr val="1E1B2E"/>
                </a:solidFill>
                <a:latin typeface="Calibri"/>
              </a:defRPr>
            </a:pPr>
            <a:r>
              <a:rPr lang="en-US" dirty="0">
                <a:solidFill>
                  <a:srgbClr val="FF0000"/>
                </a:solidFill>
                <a:latin typeface="Bangla MN" pitchFamily="2" charset="0"/>
                <a:cs typeface="Bangla MN" pitchFamily="2" charset="0"/>
              </a:rPr>
              <a:t>										by </a:t>
            </a:r>
          </a:p>
          <a:p>
            <a:pPr algn="l">
              <a:lnSpc>
                <a:spcPts val="7280"/>
              </a:lnSpc>
              <a:spcAft>
                <a:spcPts val="0"/>
              </a:spcAft>
              <a:defRPr sz="5600" b="1">
                <a:solidFill>
                  <a:srgbClr val="1E1B2E"/>
                </a:solidFill>
                <a:latin typeface="Calibri"/>
              </a:defRPr>
            </a:pPr>
            <a:r>
              <a:rPr lang="en-US" dirty="0">
                <a:solidFill>
                  <a:srgbClr val="FF0000"/>
                </a:solidFill>
                <a:latin typeface="Bangla MN" pitchFamily="2" charset="0"/>
                <a:cs typeface="Bangla MN" pitchFamily="2" charset="0"/>
              </a:rPr>
              <a:t>												VINDICARA</a:t>
            </a:r>
            <a:endParaRPr dirty="0">
              <a:solidFill>
                <a:srgbClr val="FF0000"/>
              </a:solidFill>
              <a:latin typeface="Bangla MN" pitchFamily="2" charset="0"/>
              <a:cs typeface="Bangla MN" pitchFamily="2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328715" y="3966646"/>
            <a:ext cx="10515600" cy="5179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640"/>
              </a:lnSpc>
              <a:spcAft>
                <a:spcPts val="0"/>
              </a:spcAft>
              <a:defRPr sz="2800" b="0">
                <a:solidFill>
                  <a:srgbClr val="645E78"/>
                </a:solidFill>
                <a:latin typeface="Calibri"/>
              </a:defRPr>
            </a:pPr>
            <a:r>
              <a:rPr b="1" dirty="0">
                <a:latin typeface="Apple Braille" pitchFamily="2" charset="0"/>
              </a:rPr>
              <a:t>Evidence-grade infrastructure for accountable AI agents.</a:t>
            </a:r>
          </a:p>
        </p:txBody>
      </p:sp>
      <p:sp>
        <p:nvSpPr>
          <p:cNvPr id="4" name="Rectangle 3"/>
          <p:cNvSpPr/>
          <p:nvPr/>
        </p:nvSpPr>
        <p:spPr>
          <a:xfrm flipV="1">
            <a:off x="2455057" y="822960"/>
            <a:ext cx="8887755" cy="72002"/>
          </a:xfrm>
          <a:prstGeom prst="rect">
            <a:avLst/>
          </a:prstGeom>
          <a:solidFill>
            <a:srgbClr val="8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71730" y="4772211"/>
            <a:ext cx="6007396" cy="3433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080"/>
              </a:lnSpc>
              <a:spcAft>
                <a:spcPts val="0"/>
              </a:spcAft>
              <a:defRPr sz="1600" b="0">
                <a:solidFill>
                  <a:srgbClr val="89849B"/>
                </a:solidFill>
                <a:latin typeface="Calibri"/>
              </a:defRPr>
            </a:pPr>
            <a:r>
              <a:rPr b="1" dirty="0">
                <a:latin typeface="Amasis MT Pro" panose="02040504050005020304" pitchFamily="18" charset="77"/>
              </a:rPr>
              <a:t>Kevin Minn  |  Founder &amp; CEO  |  </a:t>
            </a:r>
            <a:r>
              <a:rPr b="1" dirty="0" err="1">
                <a:latin typeface="Amasis MT Pro" panose="02040504050005020304" pitchFamily="18" charset="77"/>
              </a:rPr>
              <a:t>Kevin.Minn@vindicara.io</a:t>
            </a:r>
            <a:endParaRPr b="1" dirty="0">
              <a:latin typeface="Amasis MT Pro" panose="02040504050005020304" pitchFamily="18" charset="77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424949" y="6363375"/>
            <a:ext cx="5456629" cy="308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20"/>
              </a:lnSpc>
              <a:spcAft>
                <a:spcPts val="0"/>
              </a:spcAft>
              <a:defRPr sz="1400" b="0">
                <a:solidFill>
                  <a:srgbClr val="89849B"/>
                </a:solidFill>
                <a:latin typeface="Calibri"/>
              </a:defRPr>
            </a:pPr>
            <a:r>
              <a:rPr b="1" dirty="0" err="1">
                <a:latin typeface="Amasis MT Pro" panose="02040504050005020304" pitchFamily="18" charset="77"/>
              </a:rPr>
              <a:t>Vindicara</a:t>
            </a:r>
            <a:r>
              <a:rPr b="1" dirty="0">
                <a:latin typeface="Amasis MT Pro" panose="02040504050005020304" pitchFamily="18" charset="77"/>
              </a:rPr>
              <a:t>, Inc.  |  Los Angeles, CA  |  </a:t>
            </a:r>
            <a:r>
              <a:rPr b="1" dirty="0" err="1">
                <a:latin typeface="Amasis MT Pro" panose="02040504050005020304" pitchFamily="18" charset="77"/>
              </a:rPr>
              <a:t>vindicara.io</a:t>
            </a:r>
            <a:endParaRPr b="1" dirty="0">
              <a:latin typeface="Amasis MT Pro" panose="02040504050005020304" pitchFamily="18" charset="77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9038737" y="6385914"/>
            <a:ext cx="2979243" cy="2632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0"/>
              </a:lnSpc>
              <a:spcAft>
                <a:spcPts val="0"/>
              </a:spcAft>
              <a:defRPr sz="1100" b="0">
                <a:solidFill>
                  <a:srgbClr val="89849B"/>
                </a:solidFill>
                <a:latin typeface="Consolas"/>
              </a:defRPr>
            </a:pPr>
            <a:r>
              <a:rPr dirty="0"/>
              <a:t>Confidential. Do not distribute.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BA8A6012-76EF-DC76-A30C-A2F144A32EB7}"/>
              </a:ext>
            </a:extLst>
          </p:cNvPr>
          <p:cNvSpPr/>
          <p:nvPr/>
        </p:nvSpPr>
        <p:spPr>
          <a:xfrm>
            <a:off x="1456660" y="3399813"/>
            <a:ext cx="9548038" cy="770860"/>
          </a:xfrm>
          <a:prstGeom prst="roundRect">
            <a:avLst/>
          </a:prstGeom>
          <a:solidFill>
            <a:schemeClr val="accent4">
              <a:lumMod val="50000"/>
            </a:schemeClr>
          </a:solidFill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/>
          <p:cNvSpPr txBox="1"/>
          <p:nvPr/>
        </p:nvSpPr>
        <p:spPr>
          <a:xfrm>
            <a:off x="731520" y="54864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0"/>
              </a:lnSpc>
              <a:spcAft>
                <a:spcPts val="0"/>
              </a:spcAft>
              <a:defRPr sz="1100" b="1">
                <a:solidFill>
                  <a:srgbClr val="8B6CB0"/>
                </a:solidFill>
                <a:latin typeface="Consolas"/>
              </a:defRPr>
            </a:pPr>
            <a:r>
              <a:t>DESCRIPTION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05840"/>
            <a:ext cx="10515600" cy="6662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4680"/>
              </a:lnSpc>
              <a:spcAft>
                <a:spcPts val="0"/>
              </a:spcAft>
              <a:defRPr sz="3600" b="1">
                <a:solidFill>
                  <a:srgbClr val="1E1B2E"/>
                </a:solidFill>
                <a:latin typeface="Calibri"/>
              </a:defRPr>
            </a:pPr>
            <a:r>
              <a:rPr dirty="0">
                <a:latin typeface="Amasis MT Pro" panose="02040504050005020304" pitchFamily="18" charset="77"/>
              </a:rPr>
              <a:t>What </a:t>
            </a:r>
            <a:r>
              <a:rPr dirty="0">
                <a:solidFill>
                  <a:srgbClr val="FF0000"/>
                </a:solidFill>
                <a:latin typeface="Amasis MT Pro" panose="02040504050005020304" pitchFamily="18" charset="77"/>
              </a:rPr>
              <a:t>Project AIR</a:t>
            </a:r>
            <a:r>
              <a:rPr dirty="0">
                <a:latin typeface="Amasis MT Pro" panose="02040504050005020304" pitchFamily="18" charset="77"/>
              </a:rPr>
              <a:t> 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763553"/>
            <a:ext cx="10515600" cy="15485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340"/>
              </a:lnSpc>
              <a:spcAft>
                <a:spcPts val="0"/>
              </a:spcAft>
              <a:defRPr sz="1800" b="0">
                <a:solidFill>
                  <a:srgbClr val="3D3855"/>
                </a:solidFill>
                <a:latin typeface="Calibri"/>
              </a:defRPr>
            </a:pPr>
            <a:r>
              <a:rPr dirty="0">
                <a:latin typeface="Amasis MT Pro" panose="02040504050005020304" pitchFamily="18" charset="77"/>
              </a:rPr>
              <a:t>Project AIR is the forensic governance layer for autonomous AI agents. Every agent decision is written as a Signed Intent Capsule: a cryptographically signed envelope binding the declared goal, constraints, and context to each execution cycle. Each capsule carries a BLAKE3 content hash and an Ed25519 signature (with opt-in ML-DSA-65 post-quantum signing), chained to the previous step and anchored to public </a:t>
            </a:r>
            <a:r>
              <a:rPr dirty="0" err="1">
                <a:latin typeface="Amasis MT Pro" panose="02040504050005020304" pitchFamily="18" charset="77"/>
              </a:rPr>
              <a:t>Sigstore</a:t>
            </a:r>
            <a:r>
              <a:rPr dirty="0">
                <a:latin typeface="Amasis MT Pro" panose="02040504050005020304" pitchFamily="18" charset="77"/>
              </a:rPr>
              <a:t> </a:t>
            </a:r>
            <a:r>
              <a:rPr dirty="0" err="1">
                <a:latin typeface="Amasis MT Pro" panose="02040504050005020304" pitchFamily="18" charset="77"/>
              </a:rPr>
              <a:t>Rekor</a:t>
            </a:r>
            <a:r>
              <a:rPr dirty="0">
                <a:latin typeface="Amasis MT Pro" panose="02040504050005020304" pitchFamily="18" charset="77"/>
              </a:rPr>
              <a:t> transparency logs.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76400" y="3532920"/>
            <a:ext cx="9328298" cy="396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600"/>
              </a:lnSpc>
              <a:spcAft>
                <a:spcPts val="0"/>
              </a:spcAft>
              <a:defRPr sz="2000" b="1">
                <a:solidFill>
                  <a:srgbClr val="1E1B2E"/>
                </a:solidFill>
                <a:latin typeface="Calibri"/>
              </a:defRPr>
            </a:pPr>
            <a:r>
              <a:rPr sz="1600" dirty="0">
                <a:solidFill>
                  <a:schemeClr val="bg1"/>
                </a:solidFill>
              </a:rPr>
              <a:t>The result is evidence that survives subpoena, survives the vendor, and survives the auditor's first question.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754880"/>
            <a:ext cx="10515600" cy="3773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400"/>
              </a:lnSpc>
              <a:spcAft>
                <a:spcPts val="960"/>
              </a:spcAft>
              <a:defRPr sz="1600">
                <a:solidFill>
                  <a:srgbClr val="645E78"/>
                </a:solidFill>
                <a:latin typeface="Calibri"/>
              </a:defRPr>
            </a:pPr>
            <a:r>
              <a:rPr dirty="0"/>
              <a:t>MIT-license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C0C8041-0BCD-7B9F-5BE3-CBEF1402C84F}"/>
              </a:ext>
            </a:extLst>
          </p:cNvPr>
          <p:cNvSpPr/>
          <p:nvPr/>
        </p:nvSpPr>
        <p:spPr>
          <a:xfrm>
            <a:off x="9910483" y="4432352"/>
            <a:ext cx="1873624" cy="2038574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effectLst>
            <a:glow rad="101600">
              <a:schemeClr val="accent6">
                <a:satMod val="175000"/>
                <a:alpha val="40000"/>
              </a:schemeClr>
            </a:glow>
            <a:outerShdw blurRad="40000" dist="2300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ts val="2400"/>
              </a:lnSpc>
              <a:spcAft>
                <a:spcPts val="960"/>
              </a:spcAft>
              <a:defRPr sz="1600">
                <a:solidFill>
                  <a:srgbClr val="645E78"/>
                </a:solidFill>
                <a:latin typeface="Calibri"/>
              </a:defRPr>
            </a:pPr>
            <a:r>
              <a:rPr lang="en-US" b="1" dirty="0"/>
              <a:t>SDK on </a:t>
            </a:r>
            <a:r>
              <a:rPr lang="en-US" b="1" dirty="0" err="1"/>
              <a:t>PyPI</a:t>
            </a:r>
            <a:r>
              <a:rPr lang="en-US" b="1" dirty="0"/>
              <a:t> </a:t>
            </a:r>
          </a:p>
          <a:p>
            <a:pPr algn="ctr">
              <a:lnSpc>
                <a:spcPts val="2400"/>
              </a:lnSpc>
              <a:spcAft>
                <a:spcPts val="960"/>
              </a:spcAft>
              <a:defRPr sz="1600">
                <a:solidFill>
                  <a:srgbClr val="645E78"/>
                </a:solidFill>
                <a:latin typeface="Calibri"/>
              </a:defRPr>
            </a:pPr>
            <a:r>
              <a:rPr lang="en-US" sz="1200" b="1" dirty="0"/>
              <a:t>(</a:t>
            </a:r>
            <a:r>
              <a:rPr lang="en-US" sz="1200" b="1" dirty="0" err="1"/>
              <a:t>projectair</a:t>
            </a:r>
            <a:r>
              <a:rPr lang="en-US" sz="1200" b="1" dirty="0"/>
              <a:t> 0.8.0 live)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9F41045-79BD-20FD-B229-D74133D6FDF0}"/>
              </a:ext>
            </a:extLst>
          </p:cNvPr>
          <p:cNvSpPr/>
          <p:nvPr/>
        </p:nvSpPr>
        <p:spPr>
          <a:xfrm>
            <a:off x="7504804" y="4419802"/>
            <a:ext cx="1873624" cy="2038574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effectLst>
            <a:glow rad="101600">
              <a:schemeClr val="accent6">
                <a:satMod val="175000"/>
                <a:alpha val="40000"/>
              </a:schemeClr>
            </a:glow>
            <a:outerShdw blurRad="40000" dist="2300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ts val="2400"/>
              </a:lnSpc>
              <a:spcAft>
                <a:spcPts val="960"/>
              </a:spcAft>
              <a:defRPr sz="1600">
                <a:solidFill>
                  <a:srgbClr val="645E78"/>
                </a:solidFill>
                <a:latin typeface="Calibri"/>
              </a:defRPr>
            </a:pPr>
            <a:r>
              <a:rPr lang="en-US" sz="1200" b="1" dirty="0"/>
              <a:t>CLI + 14 detectors: 10/10 OWASP Agentic + 3 OWASP LLM + </a:t>
            </a:r>
          </a:p>
          <a:p>
            <a:pPr algn="ctr">
              <a:lnSpc>
                <a:spcPts val="2400"/>
              </a:lnSpc>
              <a:spcAft>
                <a:spcPts val="960"/>
              </a:spcAft>
              <a:defRPr sz="1600">
                <a:solidFill>
                  <a:srgbClr val="645E78"/>
                </a:solidFill>
                <a:latin typeface="Calibri"/>
              </a:defRPr>
            </a:pPr>
            <a:r>
              <a:rPr lang="en-US" sz="1200" b="1" dirty="0"/>
              <a:t>1 AIR-native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FE1D021-C267-C375-975E-6BF20E77BFE6}"/>
              </a:ext>
            </a:extLst>
          </p:cNvPr>
          <p:cNvSpPr/>
          <p:nvPr/>
        </p:nvSpPr>
        <p:spPr>
          <a:xfrm>
            <a:off x="5052508" y="4410837"/>
            <a:ext cx="1873624" cy="2038574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effectLst>
            <a:glow rad="101600">
              <a:schemeClr val="accent6">
                <a:satMod val="175000"/>
                <a:alpha val="40000"/>
              </a:schemeClr>
            </a:glow>
            <a:outerShdw blurRad="40000" dist="2300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ts val="2400"/>
              </a:lnSpc>
              <a:spcAft>
                <a:spcPts val="960"/>
              </a:spcAft>
              <a:defRPr sz="1600">
                <a:solidFill>
                  <a:srgbClr val="645E78"/>
                </a:solidFill>
                <a:latin typeface="Calibri"/>
              </a:defRPr>
            </a:pPr>
            <a:r>
              <a:rPr lang="en-US" sz="1200" b="1" dirty="0"/>
              <a:t>Four-layer architecture: detection, verification, causal reasoning, containment + </a:t>
            </a:r>
          </a:p>
          <a:p>
            <a:pPr algn="ctr">
              <a:lnSpc>
                <a:spcPts val="2400"/>
              </a:lnSpc>
              <a:spcAft>
                <a:spcPts val="960"/>
              </a:spcAft>
              <a:defRPr sz="1600">
                <a:solidFill>
                  <a:srgbClr val="645E78"/>
                </a:solidFill>
                <a:latin typeface="Calibri"/>
              </a:defRPr>
            </a:pPr>
            <a:r>
              <a:rPr lang="en-US" sz="1200" b="1" dirty="0"/>
              <a:t>cross-agent trust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9E04295-E743-39CD-EE7D-A08D8D1951BF}"/>
              </a:ext>
            </a:extLst>
          </p:cNvPr>
          <p:cNvSpPr/>
          <p:nvPr/>
        </p:nvSpPr>
        <p:spPr>
          <a:xfrm>
            <a:off x="2686722" y="4410837"/>
            <a:ext cx="1873624" cy="2038574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effectLst>
            <a:glow rad="101600">
              <a:schemeClr val="accent6">
                <a:satMod val="175000"/>
                <a:alpha val="40000"/>
              </a:schemeClr>
            </a:glow>
            <a:outerShdw blurRad="40000" dist="2300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ts val="2400"/>
              </a:lnSpc>
              <a:spcAft>
                <a:spcPts val="960"/>
              </a:spcAft>
              <a:defRPr sz="1600">
                <a:solidFill>
                  <a:srgbClr val="645E78"/>
                </a:solidFill>
                <a:latin typeface="Calibri"/>
              </a:defRPr>
            </a:pPr>
            <a:r>
              <a:rPr lang="en-US" sz="1200" b="1" dirty="0"/>
              <a:t>Six framework integrations: </a:t>
            </a:r>
            <a:r>
              <a:rPr lang="en-US" sz="1200" b="1" dirty="0" err="1"/>
              <a:t>LangChain</a:t>
            </a:r>
            <a:r>
              <a:rPr lang="en-US" sz="1200" b="1" dirty="0"/>
              <a:t>, OpenAI, Anthropic, </a:t>
            </a:r>
            <a:r>
              <a:rPr lang="en-US" sz="1200" b="1" dirty="0" err="1"/>
              <a:t>LlamaIndex</a:t>
            </a:r>
            <a:r>
              <a:rPr lang="en-US" sz="1200" b="1" dirty="0"/>
              <a:t>, Gemini, Google ADK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74A2B03-8B20-366D-6DAF-A47797FD3AFD}"/>
              </a:ext>
            </a:extLst>
          </p:cNvPr>
          <p:cNvSpPr/>
          <p:nvPr/>
        </p:nvSpPr>
        <p:spPr>
          <a:xfrm>
            <a:off x="317350" y="4410837"/>
            <a:ext cx="1873624" cy="2038574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effectLst>
            <a:glow rad="101600">
              <a:schemeClr val="accent6">
                <a:satMod val="175000"/>
                <a:alpha val="40000"/>
              </a:schemeClr>
            </a:glow>
            <a:outerShdw blurRad="40000" dist="2300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ts val="2400"/>
              </a:lnSpc>
              <a:spcAft>
                <a:spcPts val="960"/>
              </a:spcAft>
              <a:defRPr sz="1600">
                <a:solidFill>
                  <a:srgbClr val="645E78"/>
                </a:solidFill>
                <a:latin typeface="Calibri"/>
              </a:defRPr>
            </a:pPr>
            <a:r>
              <a:rPr lang="en-US" sz="1200" b="1" dirty="0"/>
              <a:t>Post-quantum ready: </a:t>
            </a:r>
          </a:p>
          <a:p>
            <a:pPr algn="ctr">
              <a:lnSpc>
                <a:spcPts val="2400"/>
              </a:lnSpc>
              <a:spcAft>
                <a:spcPts val="960"/>
              </a:spcAft>
              <a:defRPr sz="1600">
                <a:solidFill>
                  <a:srgbClr val="645E78"/>
                </a:solidFill>
                <a:latin typeface="Calibri"/>
              </a:defRPr>
            </a:pPr>
            <a:r>
              <a:rPr lang="en-US" sz="1200" b="1" dirty="0"/>
              <a:t>ML-DSA-65 (FIPS 204) experimental opt-in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54864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0"/>
              </a:lnSpc>
              <a:spcAft>
                <a:spcPts val="0"/>
              </a:spcAft>
              <a:defRPr sz="1100" b="1">
                <a:solidFill>
                  <a:srgbClr val="8B6CB0"/>
                </a:solidFill>
                <a:latin typeface="Consolas"/>
              </a:defRPr>
            </a:pPr>
            <a:r>
              <a:t>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0584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4680"/>
              </a:lnSpc>
              <a:spcAft>
                <a:spcPts val="0"/>
              </a:spcAft>
              <a:defRPr sz="3600" b="1">
                <a:solidFill>
                  <a:srgbClr val="1E1B2E"/>
                </a:solidFill>
                <a:latin typeface="Calibri"/>
              </a:defRPr>
            </a:pPr>
            <a:r>
              <a:t>AI agents are going off-script in production.</a:t>
            </a:r>
            <a:br/>
            <a:r>
              <a:t>Nobody can prove what happened.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560320"/>
            <a:ext cx="5029200" cy="36602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400"/>
              </a:lnSpc>
              <a:spcAft>
                <a:spcPts val="960"/>
              </a:spcAft>
              <a:defRPr sz="1600">
                <a:solidFill>
                  <a:srgbClr val="3D3855"/>
                </a:solidFill>
                <a:latin typeface="Calibri"/>
              </a:defRPr>
            </a:pPr>
            <a:r>
              <a:rPr dirty="0"/>
              <a:t>16,200 AI security incidents in 2025 (+49% YoY, Pillar Security)</a:t>
            </a:r>
          </a:p>
          <a:p>
            <a:pPr>
              <a:lnSpc>
                <a:spcPts val="2400"/>
              </a:lnSpc>
              <a:spcAft>
                <a:spcPts val="960"/>
              </a:spcAft>
              <a:defRPr sz="1600">
                <a:solidFill>
                  <a:srgbClr val="3D3855"/>
                </a:solidFill>
                <a:latin typeface="Calibri"/>
              </a:defRPr>
            </a:pPr>
            <a:r>
              <a:rPr dirty="0"/>
              <a:t>73% of production AI deployments have prompt injection vulnerabilities </a:t>
            </a:r>
            <a:endParaRPr lang="en-US" dirty="0"/>
          </a:p>
          <a:p>
            <a:pPr>
              <a:lnSpc>
                <a:spcPts val="2400"/>
              </a:lnSpc>
              <a:spcAft>
                <a:spcPts val="960"/>
              </a:spcAft>
              <a:defRPr sz="1600">
                <a:solidFill>
                  <a:srgbClr val="3D3855"/>
                </a:solidFill>
                <a:latin typeface="Calibri"/>
              </a:defRPr>
            </a:pPr>
            <a:r>
              <a:rPr dirty="0"/>
              <a:t>Only 14% of organizations ship AI agents with full security approval (PwC 2025)</a:t>
            </a:r>
          </a:p>
          <a:p>
            <a:pPr>
              <a:lnSpc>
                <a:spcPts val="2400"/>
              </a:lnSpc>
              <a:spcAft>
                <a:spcPts val="960"/>
              </a:spcAft>
              <a:defRPr sz="1600">
                <a:solidFill>
                  <a:srgbClr val="3D3855"/>
                </a:solidFill>
                <a:latin typeface="Calibri"/>
              </a:defRPr>
            </a:pPr>
            <a:r>
              <a:rPr dirty="0"/>
              <a:t>EU AI Act enforcement begins August 2, 2026: audit trails and post-market monitoring required</a:t>
            </a:r>
          </a:p>
          <a:p>
            <a:pPr>
              <a:lnSpc>
                <a:spcPts val="2400"/>
              </a:lnSpc>
              <a:spcAft>
                <a:spcPts val="960"/>
              </a:spcAft>
              <a:defRPr sz="1600">
                <a:solidFill>
                  <a:srgbClr val="3D3855"/>
                </a:solidFill>
                <a:latin typeface="Calibri"/>
              </a:defRPr>
            </a:pPr>
            <a:r>
              <a:rPr dirty="0"/>
              <a:t>Non-compliance penalty: up to 7% of global annual revenue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2560320"/>
            <a:ext cx="5029200" cy="3044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400"/>
              </a:lnSpc>
              <a:spcAft>
                <a:spcPts val="960"/>
              </a:spcAft>
              <a:defRPr sz="1600">
                <a:solidFill>
                  <a:srgbClr val="3D3855"/>
                </a:solidFill>
                <a:latin typeface="Calibri"/>
              </a:defRPr>
            </a:pPr>
            <a:r>
              <a:rPr dirty="0"/>
              <a:t>Prevention tools</a:t>
            </a:r>
            <a:r>
              <a:rPr lang="en-US" dirty="0"/>
              <a:t> </a:t>
            </a:r>
            <a:r>
              <a:rPr dirty="0"/>
              <a:t>try to stop bad things from happening</a:t>
            </a:r>
          </a:p>
          <a:p>
            <a:pPr>
              <a:lnSpc>
                <a:spcPts val="2400"/>
              </a:lnSpc>
              <a:spcAft>
                <a:spcPts val="960"/>
              </a:spcAft>
              <a:defRPr sz="1600">
                <a:solidFill>
                  <a:srgbClr val="3D3855"/>
                </a:solidFill>
                <a:latin typeface="Calibri"/>
              </a:defRPr>
            </a:pPr>
            <a:r>
              <a:rPr dirty="0"/>
              <a:t>None of them tell you what actually happened when an agent ran</a:t>
            </a:r>
          </a:p>
          <a:p>
            <a:pPr>
              <a:lnSpc>
                <a:spcPts val="2400"/>
              </a:lnSpc>
              <a:spcAft>
                <a:spcPts val="960"/>
              </a:spcAft>
              <a:defRPr sz="1600">
                <a:solidFill>
                  <a:srgbClr val="3D3855"/>
                </a:solidFill>
                <a:latin typeface="Calibri"/>
              </a:defRPr>
            </a:pPr>
            <a:r>
              <a:rPr dirty="0"/>
              <a:t>None produce evidence an auditor, regulator, or insurance carrier can use</a:t>
            </a:r>
          </a:p>
          <a:p>
            <a:pPr>
              <a:lnSpc>
                <a:spcPts val="2400"/>
              </a:lnSpc>
              <a:spcAft>
                <a:spcPts val="960"/>
              </a:spcAft>
              <a:defRPr sz="1600">
                <a:solidFill>
                  <a:srgbClr val="3D3855"/>
                </a:solidFill>
                <a:latin typeface="Calibri"/>
              </a:defRPr>
            </a:pPr>
            <a:r>
              <a:rPr dirty="0"/>
              <a:t>None bind a high-stakes action to the authenticated human who authorized it</a:t>
            </a:r>
          </a:p>
          <a:p>
            <a:pPr>
              <a:lnSpc>
                <a:spcPts val="2400"/>
              </a:lnSpc>
              <a:spcAft>
                <a:spcPts val="960"/>
              </a:spcAft>
              <a:defRPr sz="1600">
                <a:solidFill>
                  <a:srgbClr val="3D3855"/>
                </a:solidFill>
                <a:latin typeface="Calibri"/>
              </a:defRPr>
            </a:pPr>
            <a:r>
              <a:rPr dirty="0"/>
              <a:t>When something goes wrong, there is no chain of custody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20040"/>
            <a:ext cx="1571492" cy="2929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0"/>
              </a:lnSpc>
              <a:spcAft>
                <a:spcPts val="0"/>
              </a:spcAft>
              <a:defRPr sz="1100" b="1">
                <a:solidFill>
                  <a:srgbClr val="8B6CB0"/>
                </a:solidFill>
                <a:latin typeface="Consolas"/>
              </a:defRPr>
            </a:pPr>
            <a:r>
              <a:rPr sz="2000" dirty="0">
                <a:latin typeface="Apple Braille" pitchFamily="2" charset="0"/>
                <a:cs typeface="Al Bayan Plain" pitchFamily="2" charset="-78"/>
              </a:rPr>
              <a:t>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04437" y="628065"/>
            <a:ext cx="7089790" cy="6367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4680"/>
              </a:lnSpc>
              <a:spcAft>
                <a:spcPts val="0"/>
              </a:spcAft>
              <a:defRPr sz="3600" b="1">
                <a:solidFill>
                  <a:srgbClr val="1E1B2E"/>
                </a:solidFill>
                <a:latin typeface="Calibri"/>
              </a:defRPr>
            </a:pPr>
            <a:r>
              <a:rPr sz="2400" dirty="0">
                <a:latin typeface="Apple Braille" pitchFamily="2" charset="0"/>
                <a:cs typeface="Angsana New" panose="02020603050405020304" pitchFamily="18" charset="-34"/>
              </a:rPr>
              <a:t>Four layers of evidence-grade infrastructure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57146" y="1595540"/>
            <a:ext cx="1371600" cy="3107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20"/>
              </a:lnSpc>
              <a:spcAft>
                <a:spcPts val="0"/>
              </a:spcAft>
              <a:defRPr sz="1400" b="1">
                <a:solidFill>
                  <a:srgbClr val="8B6CB0"/>
                </a:solidFill>
                <a:latin typeface="Consolas"/>
              </a:defRPr>
            </a:pPr>
            <a:r>
              <a:rPr dirty="0">
                <a:latin typeface="Broadway" pitchFamily="82" charset="77"/>
              </a:rPr>
              <a:t>Layer</a:t>
            </a:r>
            <a:r>
              <a:rPr dirty="0"/>
              <a:t> 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0" y="1619445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340"/>
              </a:lnSpc>
              <a:spcAft>
                <a:spcPts val="0"/>
              </a:spcAft>
              <a:defRPr sz="1800" b="1">
                <a:solidFill>
                  <a:srgbClr val="1E1B2E"/>
                </a:solidFill>
                <a:latin typeface="Calibri"/>
              </a:defRPr>
            </a:pPr>
            <a:r>
              <a:rPr dirty="0">
                <a:latin typeface="Apple Braille" pitchFamily="2" charset="0"/>
              </a:rPr>
              <a:t>Detection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5999" y="1923855"/>
            <a:ext cx="6562061" cy="2927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90"/>
              </a:lnSpc>
              <a:spcAft>
                <a:spcPts val="0"/>
              </a:spcAft>
              <a:defRPr sz="1300" b="0">
                <a:solidFill>
                  <a:srgbClr val="645E78"/>
                </a:solidFill>
                <a:latin typeface="Calibri"/>
              </a:defRPr>
            </a:pPr>
            <a:r>
              <a:rPr dirty="0">
                <a:latin typeface="Apple Braille" pitchFamily="2" charset="0"/>
              </a:rPr>
              <a:t>10/10 OWASP Agentic + 3 LLM + 1 AIR-native. 14 detectors running over every chain.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848061" y="1740975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560"/>
              </a:lnSpc>
              <a:spcAft>
                <a:spcPts val="0"/>
              </a:spcAft>
              <a:defRPr sz="1200" b="0">
                <a:solidFill>
                  <a:srgbClr val="2A8D8D"/>
                </a:solidFill>
                <a:latin typeface="Consolas"/>
              </a:defRPr>
            </a:pPr>
            <a:r>
              <a:rPr dirty="0"/>
              <a:t>Shipped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57146" y="2519828"/>
            <a:ext cx="1371600" cy="3072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20"/>
              </a:lnSpc>
              <a:spcAft>
                <a:spcPts val="0"/>
              </a:spcAft>
              <a:defRPr sz="1400" b="1">
                <a:solidFill>
                  <a:srgbClr val="8B6CB0"/>
                </a:solidFill>
                <a:latin typeface="Consolas"/>
              </a:defRPr>
            </a:pPr>
            <a:r>
              <a:rPr dirty="0">
                <a:latin typeface="Broadway" pitchFamily="82" charset="77"/>
              </a:rPr>
              <a:t>Layer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86000" y="2451762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340"/>
              </a:lnSpc>
              <a:spcAft>
                <a:spcPts val="0"/>
              </a:spcAft>
              <a:defRPr sz="1800" b="1">
                <a:solidFill>
                  <a:srgbClr val="1E1B2E"/>
                </a:solidFill>
                <a:latin typeface="Calibri"/>
              </a:defRPr>
            </a:pPr>
            <a:r>
              <a:rPr dirty="0">
                <a:latin typeface="Apple Braille" pitchFamily="2" charset="0"/>
              </a:rPr>
              <a:t>External Trust Anchor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86000" y="2764359"/>
            <a:ext cx="5943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90"/>
              </a:lnSpc>
              <a:spcAft>
                <a:spcPts val="0"/>
              </a:spcAft>
              <a:defRPr sz="1300" b="0">
                <a:solidFill>
                  <a:srgbClr val="645E78"/>
                </a:solidFill>
                <a:latin typeface="Calibri"/>
              </a:defRPr>
            </a:pPr>
            <a:r>
              <a:rPr dirty="0"/>
              <a:t>RFC 3161 timestamps + </a:t>
            </a:r>
            <a:r>
              <a:rPr dirty="0" err="1"/>
              <a:t>Sigstore</a:t>
            </a:r>
            <a:r>
              <a:rPr dirty="0"/>
              <a:t> </a:t>
            </a:r>
            <a:r>
              <a:rPr dirty="0" err="1"/>
              <a:t>Rekor</a:t>
            </a:r>
            <a:r>
              <a:rPr dirty="0"/>
              <a:t> transparency log. Independently verifiable by anyone.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48061" y="2838255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560"/>
              </a:lnSpc>
              <a:spcAft>
                <a:spcPts val="0"/>
              </a:spcAft>
              <a:defRPr sz="1200" b="0">
                <a:solidFill>
                  <a:srgbClr val="2A8D8D"/>
                </a:solidFill>
                <a:latin typeface="Consolas"/>
              </a:defRPr>
            </a:pPr>
            <a:r>
              <a:t>Shipped (0.4.0)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57146" y="3457390"/>
            <a:ext cx="1371600" cy="3128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20"/>
              </a:lnSpc>
              <a:spcAft>
                <a:spcPts val="0"/>
              </a:spcAft>
              <a:defRPr sz="1400" b="1">
                <a:solidFill>
                  <a:srgbClr val="8B6CB0"/>
                </a:solidFill>
                <a:latin typeface="Consolas"/>
              </a:defRPr>
            </a:pPr>
            <a:r>
              <a:rPr dirty="0">
                <a:latin typeface="Broadway" panose="04040905080002020502" pitchFamily="82" charset="77"/>
              </a:rPr>
              <a:t>Layer 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286000" y="3404439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340"/>
              </a:lnSpc>
              <a:spcAft>
                <a:spcPts val="0"/>
              </a:spcAft>
              <a:defRPr sz="1800" b="1">
                <a:solidFill>
                  <a:srgbClr val="1E1B2E"/>
                </a:solidFill>
                <a:latin typeface="Calibri"/>
              </a:defRPr>
            </a:pPr>
            <a:r>
              <a:rPr dirty="0">
                <a:latin typeface="Apple Braille" pitchFamily="2" charset="0"/>
              </a:rPr>
              <a:t>Causal Reasoning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86000" y="3773973"/>
            <a:ext cx="5943600" cy="5107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90"/>
              </a:lnSpc>
              <a:spcAft>
                <a:spcPts val="0"/>
              </a:spcAft>
              <a:defRPr sz="1300" b="0">
                <a:solidFill>
                  <a:srgbClr val="645E78"/>
                </a:solidFill>
                <a:latin typeface="Calibri"/>
              </a:defRPr>
            </a:pPr>
            <a:r>
              <a:rPr dirty="0">
                <a:latin typeface="Apple Braille" pitchFamily="2" charset="0"/>
              </a:rPr>
              <a:t>Explains why each step happened. Hard edges go in the report; soft edges go in supporting context.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48061" y="3866318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560"/>
              </a:lnSpc>
              <a:spcAft>
                <a:spcPts val="0"/>
              </a:spcAft>
              <a:defRPr sz="1200" b="0">
                <a:solidFill>
                  <a:srgbClr val="2A8D8D"/>
                </a:solidFill>
                <a:latin typeface="Consolas"/>
              </a:defRPr>
            </a:pPr>
            <a:r>
              <a:t>Shipped (0.5.0)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57146" y="4466631"/>
            <a:ext cx="1371600" cy="3072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20"/>
              </a:lnSpc>
              <a:spcAft>
                <a:spcPts val="0"/>
              </a:spcAft>
              <a:defRPr sz="1400" b="1">
                <a:solidFill>
                  <a:srgbClr val="8B6CB0"/>
                </a:solidFill>
                <a:latin typeface="Consolas"/>
              </a:defRPr>
            </a:pPr>
            <a:r>
              <a:rPr dirty="0">
                <a:latin typeface="Broadway" pitchFamily="82" charset="77"/>
              </a:rPr>
              <a:t>Layer 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200939" y="4487418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340"/>
              </a:lnSpc>
              <a:spcAft>
                <a:spcPts val="0"/>
              </a:spcAft>
              <a:defRPr sz="1800" b="1">
                <a:solidFill>
                  <a:srgbClr val="1E1B2E"/>
                </a:solidFill>
                <a:latin typeface="Calibri"/>
              </a:defRPr>
            </a:pPr>
            <a:r>
              <a:rPr dirty="0">
                <a:latin typeface="Apple Braille" pitchFamily="2" charset="0"/>
              </a:rPr>
              <a:t>Containment + Step-Up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200939" y="4825001"/>
            <a:ext cx="5943600" cy="5107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90"/>
              </a:lnSpc>
              <a:spcAft>
                <a:spcPts val="0"/>
              </a:spcAft>
              <a:defRPr sz="1300" b="0">
                <a:solidFill>
                  <a:srgbClr val="645E78"/>
                </a:solidFill>
                <a:latin typeface="Calibri"/>
              </a:defRPr>
            </a:pPr>
            <a:r>
              <a:rPr dirty="0">
                <a:latin typeface="Apple Braille" pitchFamily="2" charset="0"/>
              </a:rPr>
              <a:t>Halt agent actions. Require Auth0-verified human approval. Consent record, not just audit trail.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48061" y="4930584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560"/>
              </a:lnSpc>
              <a:spcAft>
                <a:spcPts val="0"/>
              </a:spcAft>
              <a:defRPr sz="1200" b="0">
                <a:solidFill>
                  <a:srgbClr val="2A8D8D"/>
                </a:solidFill>
                <a:latin typeface="Consolas"/>
              </a:defRPr>
            </a:pPr>
            <a:r>
              <a:t>Shipped (0.6.0)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57146" y="5437065"/>
            <a:ext cx="1371600" cy="3072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20"/>
              </a:lnSpc>
              <a:spcAft>
                <a:spcPts val="0"/>
              </a:spcAft>
              <a:defRPr sz="1400" b="1">
                <a:solidFill>
                  <a:srgbClr val="8B6CB0"/>
                </a:solidFill>
                <a:latin typeface="Consolas"/>
              </a:defRPr>
            </a:pPr>
            <a:r>
              <a:rPr dirty="0">
                <a:latin typeface="Broadway" pitchFamily="82" charset="77"/>
              </a:rPr>
              <a:t>Layer 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200939" y="5437065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340"/>
              </a:lnSpc>
              <a:spcAft>
                <a:spcPts val="0"/>
              </a:spcAft>
              <a:defRPr sz="1800" b="1">
                <a:solidFill>
                  <a:srgbClr val="1E1B2E"/>
                </a:solidFill>
                <a:latin typeface="Calibri"/>
              </a:defRPr>
            </a:pPr>
            <a:r>
              <a:rPr dirty="0">
                <a:latin typeface="Apple Braille" pitchFamily="2" charset="0"/>
              </a:rPr>
              <a:t>Cross-Agent Trust (A2A)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200939" y="5802825"/>
            <a:ext cx="5943600" cy="5107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90"/>
              </a:lnSpc>
              <a:spcAft>
                <a:spcPts val="0"/>
              </a:spcAft>
              <a:defRPr sz="1300" b="0">
                <a:solidFill>
                  <a:srgbClr val="645E78"/>
                </a:solidFill>
                <a:latin typeface="Calibri"/>
              </a:defRPr>
            </a:pPr>
            <a:r>
              <a:rPr dirty="0" err="1">
                <a:latin typeface="Apple Braille" pitchFamily="2" charset="0"/>
              </a:rPr>
              <a:t>AgDR</a:t>
            </a:r>
            <a:r>
              <a:rPr dirty="0">
                <a:latin typeface="Apple Braille" pitchFamily="2" charset="0"/>
              </a:rPr>
              <a:t> Handoff Protocol. Cross-agent chain of custody with W3C Trace </a:t>
            </a:r>
            <a:endParaRPr lang="en-US" dirty="0">
              <a:latin typeface="Apple Braille" pitchFamily="2" charset="0"/>
            </a:endParaRPr>
          </a:p>
          <a:p>
            <a:pPr algn="l">
              <a:lnSpc>
                <a:spcPts val="1690"/>
              </a:lnSpc>
              <a:spcAft>
                <a:spcPts val="0"/>
              </a:spcAft>
              <a:defRPr sz="1300" b="0">
                <a:solidFill>
                  <a:srgbClr val="645E78"/>
                </a:solidFill>
                <a:latin typeface="Calibri"/>
              </a:defRPr>
            </a:pPr>
            <a:r>
              <a:rPr dirty="0">
                <a:latin typeface="Apple Braille" pitchFamily="2" charset="0"/>
              </a:rPr>
              <a:t>Context + </a:t>
            </a:r>
            <a:r>
              <a:rPr dirty="0" err="1">
                <a:latin typeface="Apple Braille" pitchFamily="2" charset="0"/>
              </a:rPr>
              <a:t>Rekor</a:t>
            </a:r>
            <a:r>
              <a:rPr dirty="0">
                <a:latin typeface="Apple Braille" pitchFamily="2" charset="0"/>
              </a:rPr>
              <a:t> counter-attestation.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848061" y="5852214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560"/>
              </a:lnSpc>
              <a:spcAft>
                <a:spcPts val="0"/>
              </a:spcAft>
              <a:defRPr sz="1200" b="0">
                <a:solidFill>
                  <a:srgbClr val="2A8D8D"/>
                </a:solidFill>
                <a:latin typeface="Consolas"/>
              </a:defRPr>
            </a:pPr>
            <a:r>
              <a:t>Shipped (0.7.0 alpha)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47C9469E-6BB7-C500-10CA-4A6AFA200D11}"/>
              </a:ext>
            </a:extLst>
          </p:cNvPr>
          <p:cNvSpPr/>
          <p:nvPr/>
        </p:nvSpPr>
        <p:spPr>
          <a:xfrm>
            <a:off x="573741" y="1660571"/>
            <a:ext cx="5127364" cy="4846064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914318A-685F-228C-2CA9-B8C1D1636F36}"/>
              </a:ext>
            </a:extLst>
          </p:cNvPr>
          <p:cNvSpPr/>
          <p:nvPr/>
        </p:nvSpPr>
        <p:spPr>
          <a:xfrm>
            <a:off x="6096000" y="4132781"/>
            <a:ext cx="5334000" cy="2373854"/>
          </a:xfrm>
          <a:prstGeom prst="rect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24BE4AA-67C9-25F9-A14A-24BBA2E82DB9}"/>
              </a:ext>
            </a:extLst>
          </p:cNvPr>
          <p:cNvSpPr/>
          <p:nvPr/>
        </p:nvSpPr>
        <p:spPr>
          <a:xfrm>
            <a:off x="6080760" y="1463040"/>
            <a:ext cx="5334000" cy="2373854"/>
          </a:xfrm>
          <a:prstGeom prst="rect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/>
          <p:cNvSpPr txBox="1"/>
          <p:nvPr/>
        </p:nvSpPr>
        <p:spPr>
          <a:xfrm>
            <a:off x="731520" y="548640"/>
            <a:ext cx="3657600" cy="2632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0"/>
              </a:lnSpc>
              <a:spcAft>
                <a:spcPts val="0"/>
              </a:spcAft>
              <a:defRPr sz="1100" b="1">
                <a:solidFill>
                  <a:srgbClr val="8B6CB0"/>
                </a:solidFill>
                <a:latin typeface="Consolas"/>
              </a:defRPr>
            </a:pPr>
            <a:r>
              <a:rPr>
                <a:solidFill>
                  <a:srgbClr val="00B0F0"/>
                </a:solidFill>
              </a:rPr>
              <a:t>TEAM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05840"/>
            <a:ext cx="10515600" cy="6179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4680"/>
              </a:lnSpc>
              <a:spcAft>
                <a:spcPts val="0"/>
              </a:spcAft>
              <a:defRPr sz="3600" b="1">
                <a:solidFill>
                  <a:srgbClr val="1E1B2E"/>
                </a:solidFill>
                <a:latin typeface="Calibri"/>
              </a:defRPr>
            </a:pPr>
            <a:r>
              <a:rPr sz="2400" dirty="0">
                <a:latin typeface="Amasis MT Pro" panose="02040504050005020304" pitchFamily="18" charset="77"/>
              </a:rPr>
              <a:t>Founder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449" y="1775012"/>
            <a:ext cx="4572000" cy="5243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3640"/>
              </a:lnSpc>
              <a:spcAft>
                <a:spcPts val="0"/>
              </a:spcAft>
              <a:defRPr sz="2800" b="1">
                <a:solidFill>
                  <a:srgbClr val="1E1B2E"/>
                </a:solidFill>
                <a:latin typeface="Calibri"/>
              </a:defRPr>
            </a:pPr>
            <a:r>
              <a:rPr dirty="0">
                <a:latin typeface="Amasis MT Pro" panose="02040504050005020304" pitchFamily="18" charset="77"/>
              </a:rPr>
              <a:t>Kevin Minn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140496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340"/>
              </a:lnSpc>
              <a:spcAft>
                <a:spcPts val="0"/>
              </a:spcAft>
              <a:defRPr sz="1800" b="0">
                <a:solidFill>
                  <a:srgbClr val="2A8D8D"/>
                </a:solidFill>
                <a:latin typeface="Calibri"/>
              </a:defRPr>
            </a:pPr>
            <a:r>
              <a:rPr sz="1600" b="1" dirty="0">
                <a:latin typeface="Amasis MT Pro" panose="02040504050005020304" pitchFamily="18" charset="77"/>
              </a:rPr>
              <a:t>Founder &amp; CEO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20849" y="2966305"/>
            <a:ext cx="5029200" cy="28858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250"/>
              </a:lnSpc>
              <a:spcAft>
                <a:spcPts val="900"/>
              </a:spcAft>
              <a:defRPr sz="1500">
                <a:solidFill>
                  <a:srgbClr val="3D3855"/>
                </a:solidFill>
                <a:latin typeface="Calibri"/>
              </a:defRPr>
            </a:pPr>
            <a:r>
              <a:rPr dirty="0">
                <a:latin typeface="Amasis MT Pro" panose="02040504050005020304" pitchFamily="18" charset="77"/>
              </a:rPr>
              <a:t>Built </a:t>
            </a:r>
            <a:r>
              <a:rPr lang="en-US" dirty="0">
                <a:latin typeface="Amasis MT Pro" panose="02040504050005020304" pitchFamily="18" charset="77"/>
              </a:rPr>
              <a:t>4 </a:t>
            </a:r>
            <a:r>
              <a:rPr dirty="0">
                <a:latin typeface="Amasis MT Pro" panose="02040504050005020304" pitchFamily="18" charset="77"/>
              </a:rPr>
              <a:t>AI products across 12+ months at SLTR Digital LLC</a:t>
            </a:r>
          </a:p>
          <a:p>
            <a:pPr algn="ctr">
              <a:lnSpc>
                <a:spcPts val="2250"/>
              </a:lnSpc>
              <a:spcAft>
                <a:spcPts val="900"/>
              </a:spcAft>
              <a:defRPr sz="1500">
                <a:solidFill>
                  <a:srgbClr val="3D3855"/>
                </a:solidFill>
                <a:latin typeface="Calibri"/>
              </a:defRPr>
            </a:pPr>
            <a:r>
              <a:rPr lang="en-US" dirty="0" err="1">
                <a:latin typeface="Amasis MT Pro" panose="02040504050005020304" pitchFamily="18" charset="77"/>
              </a:rPr>
              <a:t>MemoryAisle</a:t>
            </a:r>
            <a:r>
              <a:rPr dirty="0">
                <a:latin typeface="Amasis MT Pro" panose="02040504050005020304" pitchFamily="18" charset="77"/>
              </a:rPr>
              <a:t>: AI-powered </a:t>
            </a:r>
            <a:r>
              <a:rPr lang="en-US" dirty="0">
                <a:latin typeface="Amasis MT Pro" panose="02040504050005020304" pitchFamily="18" charset="77"/>
              </a:rPr>
              <a:t>GLP1 Diet app, </a:t>
            </a:r>
            <a:r>
              <a:rPr lang="en-US" dirty="0" err="1">
                <a:latin typeface="Amasis MT Pro" panose="02040504050005020304" pitchFamily="18" charset="77"/>
              </a:rPr>
              <a:t>shitpped</a:t>
            </a:r>
            <a:r>
              <a:rPr lang="en-US" dirty="0">
                <a:latin typeface="Amasis MT Pro" panose="02040504050005020304" pitchFamily="18" charset="77"/>
              </a:rPr>
              <a:t> &amp; currently on Appstore. </a:t>
            </a:r>
          </a:p>
          <a:p>
            <a:pPr algn="ctr">
              <a:lnSpc>
                <a:spcPts val="2250"/>
              </a:lnSpc>
              <a:spcAft>
                <a:spcPts val="900"/>
              </a:spcAft>
              <a:defRPr sz="1500">
                <a:solidFill>
                  <a:srgbClr val="3D3855"/>
                </a:solidFill>
                <a:latin typeface="Calibri"/>
              </a:defRPr>
            </a:pPr>
            <a:r>
              <a:rPr dirty="0">
                <a:latin typeface="Amasis MT Pro" panose="02040504050005020304" pitchFamily="18" charset="77"/>
              </a:rPr>
              <a:t>Cybersecurity domain expertise; full-time on </a:t>
            </a:r>
            <a:r>
              <a:rPr dirty="0" err="1">
                <a:latin typeface="Amasis MT Pro" panose="02040504050005020304" pitchFamily="18" charset="77"/>
              </a:rPr>
              <a:t>Vindicara</a:t>
            </a:r>
            <a:r>
              <a:rPr dirty="0">
                <a:latin typeface="Amasis MT Pro" panose="02040504050005020304" pitchFamily="18" charset="77"/>
              </a:rPr>
              <a:t> since March 2026</a:t>
            </a:r>
          </a:p>
          <a:p>
            <a:pPr algn="ctr">
              <a:lnSpc>
                <a:spcPts val="2250"/>
              </a:lnSpc>
              <a:spcAft>
                <a:spcPts val="900"/>
              </a:spcAft>
              <a:defRPr sz="1500">
                <a:solidFill>
                  <a:srgbClr val="3D3855"/>
                </a:solidFill>
                <a:latin typeface="Calibri"/>
              </a:defRPr>
            </a:pPr>
            <a:r>
              <a:rPr dirty="0">
                <a:latin typeface="Amasis MT Pro" panose="02040504050005020304" pitchFamily="18" charset="77"/>
              </a:rPr>
              <a:t>Shipped 4-layer architecture, 14 detectors, 6 framework integrations, ops chain dogfood in &lt; 90 days</a:t>
            </a:r>
          </a:p>
          <a:p>
            <a:pPr algn="ctr">
              <a:lnSpc>
                <a:spcPts val="2250"/>
              </a:lnSpc>
              <a:spcAft>
                <a:spcPts val="900"/>
              </a:spcAft>
              <a:defRPr sz="1500">
                <a:solidFill>
                  <a:srgbClr val="3D3855"/>
                </a:solidFill>
                <a:latin typeface="Calibri"/>
              </a:defRPr>
            </a:pPr>
            <a:r>
              <a:rPr dirty="0">
                <a:latin typeface="Amasis MT Pro" panose="02040504050005020304" pitchFamily="18" charset="77"/>
              </a:rPr>
              <a:t>Solo founder velocity: 0.1.0 to 0.</a:t>
            </a:r>
            <a:r>
              <a:rPr lang="en-US" dirty="0">
                <a:latin typeface="Amasis MT Pro" panose="02040504050005020304" pitchFamily="18" charset="77"/>
              </a:rPr>
              <a:t>8</a:t>
            </a:r>
            <a:r>
              <a:rPr dirty="0">
                <a:latin typeface="Amasis MT Pro" panose="02040504050005020304" pitchFamily="18" charset="77"/>
              </a:rPr>
              <a:t>.1 in 10 weeks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896471"/>
            <a:ext cx="5029200" cy="403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600"/>
              </a:lnSpc>
              <a:spcAft>
                <a:spcPts val="0"/>
              </a:spcAft>
              <a:defRPr sz="2000" b="1">
                <a:solidFill>
                  <a:srgbClr val="1E1B2E"/>
                </a:solidFill>
                <a:latin typeface="Calibri"/>
              </a:defRPr>
            </a:pPr>
            <a:r>
              <a:rPr dirty="0">
                <a:latin typeface="Amasis MT Pro" panose="02040504050005020304" pitchFamily="18" charset="77"/>
              </a:rPr>
              <a:t>Planned hires (funded by raise)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48400" y="1571292"/>
            <a:ext cx="5029200" cy="48270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250"/>
              </a:lnSpc>
              <a:spcAft>
                <a:spcPts val="900"/>
              </a:spcAft>
              <a:defRPr sz="1500">
                <a:solidFill>
                  <a:srgbClr val="3D3855"/>
                </a:solidFill>
                <a:latin typeface="Calibri"/>
              </a:defRPr>
            </a:pPr>
            <a:r>
              <a:rPr lang="en-US" sz="1500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</a:rPr>
              <a:t>Cameron Guyot - Founding COO (joining on close)</a:t>
            </a:r>
          </a:p>
          <a:p>
            <a:pPr marL="285750" indent="-285750">
              <a:lnSpc>
                <a:spcPts val="2250"/>
              </a:lnSpc>
              <a:spcAft>
                <a:spcPts val="900"/>
              </a:spcAft>
              <a:buFont typeface="Arial" panose="020B0604020202020204" pitchFamily="34" charset="0"/>
              <a:buChar char="•"/>
              <a:defRPr sz="1500">
                <a:solidFill>
                  <a:srgbClr val="3D3855"/>
                </a:solidFill>
                <a:latin typeface="Calibri"/>
              </a:defRPr>
            </a:pPr>
            <a:r>
              <a:rPr lang="en-US" sz="1500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</a:rPr>
              <a:t>8+ years in People &amp; Operations leadership</a:t>
            </a:r>
          </a:p>
          <a:p>
            <a:pPr marL="285750" indent="-285750">
              <a:lnSpc>
                <a:spcPts val="2250"/>
              </a:lnSpc>
              <a:spcAft>
                <a:spcPts val="900"/>
              </a:spcAft>
              <a:buFont typeface="Arial" panose="020B0604020202020204" pitchFamily="34" charset="0"/>
              <a:buChar char="•"/>
              <a:defRPr sz="1500">
                <a:solidFill>
                  <a:srgbClr val="3D3855"/>
                </a:solidFill>
                <a:latin typeface="Calibri"/>
              </a:defRPr>
            </a:pPr>
            <a:r>
              <a:rPr lang="en-US" sz="1500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</a:rPr>
              <a:t>Will own hiring, ops, comp design and contractor management from Day 1 </a:t>
            </a:r>
          </a:p>
          <a:p>
            <a:pPr marL="285750" indent="-285750">
              <a:lnSpc>
                <a:spcPts val="2250"/>
              </a:lnSpc>
              <a:spcAft>
                <a:spcPts val="900"/>
              </a:spcAft>
              <a:buFont typeface="Arial" panose="020B0604020202020204" pitchFamily="34" charset="0"/>
              <a:buChar char="•"/>
              <a:defRPr sz="1500">
                <a:solidFill>
                  <a:srgbClr val="3D3855"/>
                </a:solidFill>
                <a:latin typeface="Calibri"/>
              </a:defRPr>
            </a:pPr>
            <a:r>
              <a:rPr lang="en-US" sz="1500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</a:rPr>
              <a:t>Identified, aligned on equity, joining at funding close. </a:t>
            </a:r>
            <a:endParaRPr lang="en-US" dirty="0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  <a:p>
            <a:pPr>
              <a:lnSpc>
                <a:spcPts val="2250"/>
              </a:lnSpc>
              <a:spcAft>
                <a:spcPts val="900"/>
              </a:spcAft>
              <a:defRPr sz="1500">
                <a:solidFill>
                  <a:srgbClr val="3D3855"/>
                </a:solidFill>
                <a:latin typeface="Calibri"/>
              </a:defRPr>
            </a:pPr>
            <a:endParaRPr lang="en-US" dirty="0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  <a:p>
            <a:pPr>
              <a:lnSpc>
                <a:spcPts val="2250"/>
              </a:lnSpc>
              <a:spcAft>
                <a:spcPts val="900"/>
              </a:spcAft>
              <a:defRPr sz="1500">
                <a:solidFill>
                  <a:srgbClr val="3D3855"/>
                </a:solidFill>
                <a:latin typeface="Calibri"/>
              </a:defRPr>
            </a:pPr>
            <a:endParaRPr lang="en-US" dirty="0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  <a:p>
            <a:pPr marL="285750" indent="-285750">
              <a:lnSpc>
                <a:spcPts val="2250"/>
              </a:lnSpc>
              <a:spcAft>
                <a:spcPts val="900"/>
              </a:spcAft>
              <a:buFont typeface="Arial" panose="020B0604020202020204" pitchFamily="34" charset="0"/>
              <a:buChar char="•"/>
              <a:defRPr sz="1500">
                <a:solidFill>
                  <a:srgbClr val="3D3855"/>
                </a:solidFill>
                <a:latin typeface="Calibri"/>
              </a:defRPr>
            </a:pPr>
            <a:r>
              <a:rPr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</a:rPr>
              <a:t>Senior Engineer #1: Layer 1 Trust Anchor hardening, key rotation, key transparency</a:t>
            </a:r>
          </a:p>
          <a:p>
            <a:pPr marL="285750" indent="-285750">
              <a:lnSpc>
                <a:spcPts val="2250"/>
              </a:lnSpc>
              <a:spcAft>
                <a:spcPts val="900"/>
              </a:spcAft>
              <a:buFont typeface="Arial" panose="020B0604020202020204" pitchFamily="34" charset="0"/>
              <a:buChar char="•"/>
              <a:defRPr sz="1500">
                <a:solidFill>
                  <a:srgbClr val="3D3855"/>
                </a:solidFill>
                <a:latin typeface="Calibri"/>
              </a:defRPr>
            </a:pPr>
            <a:r>
              <a:rPr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</a:rPr>
              <a:t>Senior Engineer #2: Layer 4 handoff identity, </a:t>
            </a:r>
            <a:r>
              <a:rPr dirty="0" err="1">
                <a:ln>
                  <a:solidFill>
                    <a:schemeClr val="bg1"/>
                  </a:solidFill>
                </a:ln>
                <a:solidFill>
                  <a:schemeClr val="bg1"/>
                </a:solidFill>
              </a:rPr>
              <a:t>Fulcio</a:t>
            </a:r>
            <a:r>
              <a:rPr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</a:rPr>
              <a:t> + OIDC cross-tenant federation</a:t>
            </a:r>
          </a:p>
          <a:p>
            <a:pPr marL="285750" indent="-285750">
              <a:lnSpc>
                <a:spcPts val="2250"/>
              </a:lnSpc>
              <a:spcAft>
                <a:spcPts val="900"/>
              </a:spcAft>
              <a:buFont typeface="Arial" panose="020B0604020202020204" pitchFamily="34" charset="0"/>
              <a:buChar char="•"/>
              <a:defRPr sz="1500">
                <a:solidFill>
                  <a:srgbClr val="3D3855"/>
                </a:solidFill>
                <a:latin typeface="Calibri"/>
              </a:defRPr>
            </a:pPr>
            <a:r>
              <a:rPr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</a:rPr>
              <a:t>Developer Relations: OSS adoption across the </a:t>
            </a:r>
            <a:r>
              <a:rPr dirty="0" err="1">
                <a:ln>
                  <a:solidFill>
                    <a:schemeClr val="bg1"/>
                  </a:solidFill>
                </a:ln>
                <a:solidFill>
                  <a:schemeClr val="bg1"/>
                </a:solidFill>
              </a:rPr>
              <a:t>LangChain</a:t>
            </a:r>
            <a:r>
              <a:rPr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</a:rPr>
              <a:t> / agent framework ecosystem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54864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0"/>
              </a:lnSpc>
              <a:spcAft>
                <a:spcPts val="0"/>
              </a:spcAft>
              <a:defRPr sz="1100" b="1">
                <a:solidFill>
                  <a:srgbClr val="8B6CB0"/>
                </a:solidFill>
                <a:latin typeface="Consolas"/>
              </a:defRPr>
            </a:pPr>
            <a:r>
              <a:t>MARKET SIZE / OPPORTUNITY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0584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4680"/>
              </a:lnSpc>
              <a:spcAft>
                <a:spcPts val="0"/>
              </a:spcAft>
              <a:defRPr sz="3600" b="1">
                <a:solidFill>
                  <a:srgbClr val="1E1B2E"/>
                </a:solidFill>
                <a:latin typeface="Calibri"/>
              </a:defRPr>
            </a:pPr>
            <a:r>
              <a:t>The agent economy is here. Governance is not.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2286000"/>
            <a:ext cx="3383280" cy="1645920"/>
          </a:xfrm>
          <a:prstGeom prst="rect">
            <a:avLst/>
          </a:prstGeom>
          <a:solidFill>
            <a:srgbClr val="F0ECF5"/>
          </a:solidFill>
          <a:ln w="12700">
            <a:solidFill>
              <a:srgbClr val="D8D0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82880" rtlCol="0" anchor="ctr"/>
          <a:lstStyle/>
          <a:p>
            <a:pPr algn="ctr">
              <a:defRPr sz="3200" b="1">
                <a:solidFill>
                  <a:srgbClr val="1E1B2E"/>
                </a:solidFill>
                <a:latin typeface="Consolas"/>
              </a:defRPr>
            </a:pPr>
            <a:r>
              <a:t>40%</a:t>
            </a:r>
          </a:p>
          <a:p>
            <a:pPr>
              <a:spcBef>
                <a:spcPts val="800"/>
              </a:spcBef>
              <a:defRPr sz="1200">
                <a:solidFill>
                  <a:srgbClr val="89849B"/>
                </a:solidFill>
                <a:latin typeface="Calibri"/>
              </a:defRPr>
            </a:pPr>
            <a:r>
              <a:t>of enterprise apps will embed</a:t>
            </a:r>
            <a:br/>
            <a:r>
              <a:t>task-specific AI agents by 2026</a:t>
            </a:r>
            <a:br/>
            <a:r>
              <a:t>(Gartner)</a:t>
            </a:r>
          </a:p>
        </p:txBody>
      </p:sp>
      <p:sp>
        <p:nvSpPr>
          <p:cNvPr id="5" name="Rectangle 4"/>
          <p:cNvSpPr/>
          <p:nvPr/>
        </p:nvSpPr>
        <p:spPr>
          <a:xfrm>
            <a:off x="4389120" y="2286000"/>
            <a:ext cx="3383280" cy="1645920"/>
          </a:xfrm>
          <a:prstGeom prst="rect">
            <a:avLst/>
          </a:prstGeom>
          <a:solidFill>
            <a:srgbClr val="F0ECF5"/>
          </a:solidFill>
          <a:ln w="12700">
            <a:solidFill>
              <a:srgbClr val="D8D0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82880" rtlCol="0" anchor="ctr"/>
          <a:lstStyle/>
          <a:p>
            <a:pPr algn="ctr">
              <a:defRPr sz="3200" b="1">
                <a:solidFill>
                  <a:srgbClr val="C03A4A"/>
                </a:solidFill>
                <a:latin typeface="Consolas"/>
              </a:defRPr>
            </a:pPr>
            <a:r>
              <a:t>16,200</a:t>
            </a:r>
          </a:p>
          <a:p>
            <a:pPr>
              <a:spcBef>
                <a:spcPts val="800"/>
              </a:spcBef>
              <a:defRPr sz="1200">
                <a:solidFill>
                  <a:srgbClr val="89849B"/>
                </a:solidFill>
                <a:latin typeface="Calibri"/>
              </a:defRPr>
            </a:pPr>
            <a:r>
              <a:t>AI security incidents in 2025</a:t>
            </a:r>
            <a:br/>
            <a:r>
              <a:t>+49% YoY</a:t>
            </a:r>
            <a:br/>
            <a:r>
              <a:t>(Pillar Security)</a:t>
            </a:r>
          </a:p>
        </p:txBody>
      </p:sp>
      <p:sp>
        <p:nvSpPr>
          <p:cNvPr id="6" name="Rectangle 5"/>
          <p:cNvSpPr/>
          <p:nvPr/>
        </p:nvSpPr>
        <p:spPr>
          <a:xfrm>
            <a:off x="8046720" y="2286000"/>
            <a:ext cx="3383280" cy="1645920"/>
          </a:xfrm>
          <a:prstGeom prst="rect">
            <a:avLst/>
          </a:prstGeom>
          <a:solidFill>
            <a:srgbClr val="F0ECF5"/>
          </a:solidFill>
          <a:ln w="12700">
            <a:solidFill>
              <a:srgbClr val="D8D0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82880" rtlCol="0" anchor="ctr"/>
          <a:lstStyle/>
          <a:p>
            <a:pPr algn="ctr">
              <a:defRPr sz="3200" b="1">
                <a:solidFill>
                  <a:srgbClr val="C03A4A"/>
                </a:solidFill>
                <a:latin typeface="Consolas"/>
              </a:defRPr>
            </a:pPr>
            <a:r>
              <a:t>Aug 2</a:t>
            </a:r>
          </a:p>
          <a:p>
            <a:pPr>
              <a:spcBef>
                <a:spcPts val="800"/>
              </a:spcBef>
              <a:defRPr sz="1200">
                <a:solidFill>
                  <a:srgbClr val="89849B"/>
                </a:solidFill>
                <a:latin typeface="Calibri"/>
              </a:defRPr>
            </a:pPr>
            <a:r>
              <a:t>EU AI Act enforcement.</a:t>
            </a:r>
            <a:br/>
            <a:r>
              <a:t>Audit trails required.</a:t>
            </a:r>
            <a:br/>
            <a:r>
              <a:t>Up to 7% revenue penalty.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38912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340"/>
              </a:lnSpc>
              <a:spcAft>
                <a:spcPts val="0"/>
              </a:spcAft>
              <a:defRPr sz="1800" b="0">
                <a:solidFill>
                  <a:srgbClr val="3D3855"/>
                </a:solidFill>
                <a:latin typeface="Calibri"/>
              </a:defRPr>
            </a:pPr>
            <a:r>
              <a:t>Every enterprise deploying AI agents will need forensic governance infrastructure. The question is whether they build it, buy it, or get caught without it.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5120640"/>
            <a:ext cx="5029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250"/>
              </a:lnSpc>
              <a:spcAft>
                <a:spcPts val="900"/>
              </a:spcAft>
              <a:defRPr sz="1500">
                <a:solidFill>
                  <a:srgbClr val="645E78"/>
                </a:solidFill>
                <a:latin typeface="Calibri"/>
              </a:defRPr>
            </a:pPr>
            <a:r>
              <a:t>73% of production AI has prompt injection vulnerabilities (OWASP / Lakera)</a:t>
            </a:r>
          </a:p>
          <a:p>
            <a:pPr>
              <a:lnSpc>
                <a:spcPts val="2250"/>
              </a:lnSpc>
              <a:spcAft>
                <a:spcPts val="900"/>
              </a:spcAft>
              <a:defRPr sz="1500">
                <a:solidFill>
                  <a:srgbClr val="645E78"/>
                </a:solidFill>
                <a:latin typeface="Calibri"/>
              </a:defRPr>
            </a:pPr>
            <a:r>
              <a:t>Only 14% ship agents with full security approval (PwC)</a:t>
            </a:r>
          </a:p>
          <a:p>
            <a:pPr>
              <a:lnSpc>
                <a:spcPts val="2250"/>
              </a:lnSpc>
              <a:spcAft>
                <a:spcPts val="900"/>
              </a:spcAft>
              <a:defRPr sz="1500">
                <a:solidFill>
                  <a:srgbClr val="645E78"/>
                </a:solidFill>
                <a:latin typeface="Calibri"/>
              </a:defRPr>
            </a:pPr>
            <a:r>
              <a:t>Only 8% of MCP servers support OAuth (RSA 2026)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5120640"/>
            <a:ext cx="5029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250"/>
              </a:lnSpc>
              <a:spcAft>
                <a:spcPts val="900"/>
              </a:spcAft>
              <a:defRPr sz="1500">
                <a:solidFill>
                  <a:srgbClr val="645E78"/>
                </a:solidFill>
                <a:latin typeface="Calibri"/>
              </a:defRPr>
            </a:pPr>
            <a:r>
              <a:t>MITRE ATLAS and NIST do not yet cover MCP attack vectors</a:t>
            </a:r>
          </a:p>
          <a:p>
            <a:pPr>
              <a:lnSpc>
                <a:spcPts val="2250"/>
              </a:lnSpc>
              <a:spcAft>
                <a:spcPts val="900"/>
              </a:spcAft>
              <a:defRPr sz="1500">
                <a:solidFill>
                  <a:srgbClr val="645E78"/>
                </a:solidFill>
                <a:latin typeface="Calibri"/>
              </a:defRPr>
            </a:pPr>
            <a:r>
              <a:t>~50% of the agentic stack has zero standardized defensive guidance</a:t>
            </a:r>
          </a:p>
          <a:p>
            <a:pPr>
              <a:lnSpc>
                <a:spcPts val="2250"/>
              </a:lnSpc>
              <a:spcAft>
                <a:spcPts val="900"/>
              </a:spcAft>
              <a:defRPr sz="1500">
                <a:solidFill>
                  <a:srgbClr val="645E78"/>
                </a:solidFill>
                <a:latin typeface="Calibri"/>
              </a:defRPr>
            </a:pPr>
            <a:r>
              <a:t>Bipartisan US political support for AI guardrails (Semafor, March 2026)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DF8E614C-4084-99EA-4FEB-D74C0FAD3E68}"/>
              </a:ext>
            </a:extLst>
          </p:cNvPr>
          <p:cNvSpPr/>
          <p:nvPr/>
        </p:nvSpPr>
        <p:spPr>
          <a:xfrm>
            <a:off x="594360" y="950976"/>
            <a:ext cx="10652760" cy="841965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/>
          <p:cNvSpPr txBox="1"/>
          <p:nvPr/>
        </p:nvSpPr>
        <p:spPr>
          <a:xfrm>
            <a:off x="731520" y="54864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0"/>
              </a:lnSpc>
              <a:spcAft>
                <a:spcPts val="0"/>
              </a:spcAft>
              <a:defRPr sz="1100" b="1">
                <a:solidFill>
                  <a:srgbClr val="8B6CB0"/>
                </a:solidFill>
                <a:latin typeface="Consolas"/>
              </a:defRPr>
            </a:pPr>
            <a:r>
              <a:t>COMPETITIVE LANDSCAPE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05840"/>
            <a:ext cx="10515600" cy="6662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4680"/>
              </a:lnSpc>
              <a:spcAft>
                <a:spcPts val="0"/>
              </a:spcAft>
              <a:defRPr sz="3600" b="1">
                <a:solidFill>
                  <a:srgbClr val="1E1B2E"/>
                </a:solidFill>
                <a:latin typeface="Calibri"/>
              </a:defRPr>
            </a:pPr>
            <a:r>
              <a:rPr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</a:rPr>
              <a:t>The last independent AI agent security platform.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10312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340"/>
              </a:lnSpc>
              <a:spcAft>
                <a:spcPts val="0"/>
              </a:spcAft>
              <a:defRPr sz="1800" b="0">
                <a:solidFill>
                  <a:srgbClr val="645E78"/>
                </a:solidFill>
                <a:latin typeface="Calibri"/>
              </a:defRPr>
            </a:pPr>
            <a:r>
              <a:t>Acquirer consolidation created a vacuum. Vindicara fills it.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7432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080"/>
              </a:lnSpc>
              <a:spcAft>
                <a:spcPts val="0"/>
              </a:spcAft>
              <a:defRPr sz="1600" b="1">
                <a:solidFill>
                  <a:srgbClr val="1E1B2E"/>
                </a:solidFill>
                <a:latin typeface="Calibri"/>
              </a:defRPr>
            </a:pPr>
            <a:r>
              <a:t>Lakera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0" y="27432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90"/>
              </a:lnSpc>
              <a:spcAft>
                <a:spcPts val="0"/>
              </a:spcAft>
              <a:defRPr sz="1300" b="0">
                <a:solidFill>
                  <a:srgbClr val="89849B"/>
                </a:solidFill>
                <a:latin typeface="Consolas"/>
              </a:defRPr>
            </a:pPr>
            <a:r>
              <a:t>Acquired by Check Point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27432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90"/>
              </a:lnSpc>
              <a:spcAft>
                <a:spcPts val="0"/>
              </a:spcAft>
              <a:defRPr sz="1300" b="0">
                <a:solidFill>
                  <a:srgbClr val="645E78"/>
                </a:solidFill>
                <a:latin typeface="Calibri"/>
              </a:defRPr>
            </a:pPr>
            <a:r>
              <a:t>Guardrails only. No forensic chain. No causal reasoning. No containment.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5204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080"/>
              </a:lnSpc>
              <a:spcAft>
                <a:spcPts val="0"/>
              </a:spcAft>
              <a:defRPr sz="1600" b="1">
                <a:solidFill>
                  <a:srgbClr val="1E1B2E"/>
                </a:solidFill>
                <a:latin typeface="Calibri"/>
              </a:defRPr>
            </a:pPr>
            <a:r>
              <a:t>CalypsoAI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0" y="35204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90"/>
              </a:lnSpc>
              <a:spcAft>
                <a:spcPts val="0"/>
              </a:spcAft>
              <a:defRPr sz="1300" b="0">
                <a:solidFill>
                  <a:srgbClr val="89849B"/>
                </a:solidFill>
                <a:latin typeface="Consolas"/>
              </a:defRPr>
            </a:pPr>
            <a:r>
              <a:t>Acquired by F5 (gov-only)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352044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90"/>
              </a:lnSpc>
              <a:spcAft>
                <a:spcPts val="0"/>
              </a:spcAft>
              <a:defRPr sz="1300" b="0">
                <a:solidFill>
                  <a:srgbClr val="645E78"/>
                </a:solidFill>
                <a:latin typeface="Calibri"/>
              </a:defRPr>
            </a:pPr>
            <a:r>
              <a:t>Government-locked. No developer self-serve. No open-source tier.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42976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080"/>
              </a:lnSpc>
              <a:spcAft>
                <a:spcPts val="0"/>
              </a:spcAft>
              <a:defRPr sz="1600" b="1">
                <a:solidFill>
                  <a:srgbClr val="1E1B2E"/>
                </a:solidFill>
                <a:latin typeface="Calibri"/>
              </a:defRPr>
            </a:pPr>
            <a:r>
              <a:t>Guardrails AI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0" y="42976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90"/>
              </a:lnSpc>
              <a:spcAft>
                <a:spcPts val="0"/>
              </a:spcAft>
              <a:defRPr sz="1300" b="0">
                <a:solidFill>
                  <a:srgbClr val="89849B"/>
                </a:solidFill>
                <a:latin typeface="Consolas"/>
              </a:defRPr>
            </a:pPr>
            <a:r>
              <a:t>$7.5M seed, 11 employees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42976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90"/>
              </a:lnSpc>
              <a:spcAft>
                <a:spcPts val="0"/>
              </a:spcAft>
              <a:defRPr sz="1300" b="0">
                <a:solidFill>
                  <a:srgbClr val="645E78"/>
                </a:solidFill>
                <a:latin typeface="Calibri"/>
              </a:defRPr>
            </a:pPr>
            <a:r>
              <a:t>Input/output validation. No signed evidence. No cross-agent trust.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50749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080"/>
              </a:lnSpc>
              <a:spcAft>
                <a:spcPts val="0"/>
              </a:spcAft>
              <a:defRPr sz="1600" b="1">
                <a:solidFill>
                  <a:srgbClr val="1E1B2E"/>
                </a:solidFill>
                <a:latin typeface="Calibri"/>
              </a:defRPr>
            </a:pPr>
            <a:r>
              <a:t>NeMo Guardrails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00400" y="50749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90"/>
              </a:lnSpc>
              <a:spcAft>
                <a:spcPts val="0"/>
              </a:spcAft>
              <a:defRPr sz="1300" b="0">
                <a:solidFill>
                  <a:srgbClr val="89849B"/>
                </a:solidFill>
                <a:latin typeface="Consolas"/>
              </a:defRPr>
            </a:pPr>
            <a:r>
              <a:t>NVIDIA OSS toolkit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50749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90"/>
              </a:lnSpc>
              <a:spcAft>
                <a:spcPts val="0"/>
              </a:spcAft>
              <a:defRPr sz="1300" b="0">
                <a:solidFill>
                  <a:srgbClr val="645E78"/>
                </a:solidFill>
                <a:latin typeface="Calibri"/>
              </a:defRPr>
            </a:pPr>
            <a:r>
              <a:t>Complementary, not competitive. Partnership target (Tier 1 integration planned).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58521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080"/>
              </a:lnSpc>
              <a:spcAft>
                <a:spcPts val="0"/>
              </a:spcAft>
              <a:defRPr sz="1600" b="1">
                <a:solidFill>
                  <a:srgbClr val="1E1B2E"/>
                </a:solidFill>
                <a:latin typeface="Calibri"/>
              </a:defRPr>
            </a:pPr>
            <a:r>
              <a:t>Arize / Galileo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00400" y="58521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90"/>
              </a:lnSpc>
              <a:spcAft>
                <a:spcPts val="0"/>
              </a:spcAft>
              <a:defRPr sz="1300" b="0">
                <a:solidFill>
                  <a:srgbClr val="89849B"/>
                </a:solidFill>
                <a:latin typeface="Consolas"/>
              </a:defRPr>
            </a:pPr>
            <a:r>
              <a:t>Observability-first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585216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90"/>
              </a:lnSpc>
              <a:spcAft>
                <a:spcPts val="0"/>
              </a:spcAft>
              <a:defRPr sz="1300" b="0">
                <a:solidFill>
                  <a:srgbClr val="645E78"/>
                </a:solidFill>
                <a:latin typeface="Calibri"/>
              </a:defRPr>
            </a:pPr>
            <a:r>
              <a:t>Tracing and evals, not forensic evidence. No compliance exports. No containment.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94360" y="6492240"/>
            <a:ext cx="10698480" cy="36576"/>
          </a:xfrm>
          <a:prstGeom prst="rect">
            <a:avLst/>
          </a:prstGeom>
          <a:solidFill>
            <a:srgbClr val="8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31520" y="658368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20"/>
              </a:lnSpc>
              <a:spcAft>
                <a:spcPts val="0"/>
              </a:spcAft>
              <a:defRPr sz="1400" b="1">
                <a:solidFill>
                  <a:srgbClr val="1E1B2E"/>
                </a:solidFill>
                <a:latin typeface="Calibri"/>
              </a:defRPr>
            </a:pPr>
            <a:r>
              <a:t>Vindicara: independent, developer-first, self-serve pricing, open-source top-of-funnel, full four-layer forensic stack.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BC5FC5A3-A533-1C9D-DB44-D037DB4926AB}"/>
              </a:ext>
            </a:extLst>
          </p:cNvPr>
          <p:cNvSpPr/>
          <p:nvPr/>
        </p:nvSpPr>
        <p:spPr>
          <a:xfrm>
            <a:off x="614978" y="1042478"/>
            <a:ext cx="9568927" cy="731519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731520" y="54864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0"/>
              </a:lnSpc>
              <a:spcAft>
                <a:spcPts val="0"/>
              </a:spcAft>
              <a:defRPr sz="1100" b="1">
                <a:solidFill>
                  <a:srgbClr val="8B6CB0"/>
                </a:solidFill>
                <a:latin typeface="Consolas"/>
              </a:defRPr>
            </a:pPr>
            <a:r>
              <a:t>BUSINESS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05840"/>
            <a:ext cx="10515600" cy="6256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4680"/>
              </a:lnSpc>
              <a:spcAft>
                <a:spcPts val="0"/>
              </a:spcAft>
              <a:defRPr sz="3600" b="1">
                <a:solidFill>
                  <a:srgbClr val="1E1B2E"/>
                </a:solidFill>
                <a:latin typeface="Calibri"/>
              </a:defRPr>
            </a:pPr>
            <a:r>
              <a:rPr sz="2400" dirty="0">
                <a:solidFill>
                  <a:schemeClr val="bg1"/>
                </a:solidFill>
              </a:rPr>
              <a:t>Open-core. MIT SDK top-of-funnel, commercial cloud + enterprise.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28600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080"/>
              </a:lnSpc>
              <a:spcAft>
                <a:spcPts val="0"/>
              </a:spcAft>
              <a:defRPr sz="1600" b="1">
                <a:solidFill>
                  <a:srgbClr val="1E1B2E"/>
                </a:solidFill>
                <a:latin typeface="Calibri"/>
              </a:defRPr>
            </a:pPr>
            <a:r>
              <a:t>Open Source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0" y="22860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080"/>
              </a:lnSpc>
              <a:spcAft>
                <a:spcPts val="0"/>
              </a:spcAft>
              <a:defRPr sz="1600" b="1">
                <a:solidFill>
                  <a:srgbClr val="2A8D8D"/>
                </a:solidFill>
                <a:latin typeface="Consolas"/>
              </a:defRPr>
            </a:pPr>
            <a:r>
              <a:t>Free forever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0" y="2286000"/>
            <a:ext cx="4572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Aft>
                <a:spcPts val="0"/>
              </a:spcAft>
              <a:defRPr sz="1200" b="0">
                <a:solidFill>
                  <a:srgbClr val="645E78"/>
                </a:solidFill>
                <a:latin typeface="Calibri"/>
              </a:defRPr>
            </a:pPr>
            <a:r>
              <a:t>MIT CLI + SDK. 14 detectors. 6 framework integrations.</a:t>
            </a:r>
            <a:br/>
            <a:r>
              <a:t>Signed Intent Capsule chain. JSON/PDF/CEF exports.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22860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430"/>
              </a:lnSpc>
              <a:spcAft>
                <a:spcPts val="0"/>
              </a:spcAft>
              <a:defRPr sz="1100" b="0">
                <a:solidFill>
                  <a:srgbClr val="89849B"/>
                </a:solidFill>
                <a:latin typeface="Consolas"/>
              </a:defRPr>
            </a:pPr>
            <a:r>
              <a:t>Live on PyPI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38328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080"/>
              </a:lnSpc>
              <a:spcAft>
                <a:spcPts val="0"/>
              </a:spcAft>
              <a:defRPr sz="1600" b="1">
                <a:solidFill>
                  <a:srgbClr val="1E1B2E"/>
                </a:solidFill>
                <a:latin typeface="Calibri"/>
              </a:defRPr>
            </a:pPr>
            <a:r>
              <a:t>Individual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26080" y="33832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080"/>
              </a:lnSpc>
              <a:spcAft>
                <a:spcPts val="0"/>
              </a:spcAft>
              <a:defRPr sz="1600" b="1">
                <a:solidFill>
                  <a:srgbClr val="2A8D8D"/>
                </a:solidFill>
                <a:latin typeface="Consolas"/>
              </a:defRPr>
            </a:pPr>
            <a:r>
              <a:t>$39/mo ($350/yr)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0" y="3383280"/>
            <a:ext cx="4572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Aft>
                <a:spcPts val="0"/>
              </a:spcAft>
              <a:defRPr sz="1200" b="0">
                <a:solidFill>
                  <a:srgbClr val="645E78"/>
                </a:solidFill>
                <a:latin typeface="Calibri"/>
              </a:defRPr>
            </a:pPr>
            <a:r>
              <a:t>AIR Cloud client. Premium detectors + reports.</a:t>
            </a:r>
            <a:br/>
            <a:r>
              <a:t>NIST AI RMF, SOC2-AI templates. Email support.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0" y="338328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430"/>
              </a:lnSpc>
              <a:spcAft>
                <a:spcPts val="0"/>
              </a:spcAft>
              <a:defRPr sz="1100" b="0">
                <a:solidFill>
                  <a:srgbClr val="89849B"/>
                </a:solidFill>
                <a:latin typeface="Consolas"/>
              </a:defRPr>
            </a:pPr>
            <a:r>
              <a:t>Stripe live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48056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080"/>
              </a:lnSpc>
              <a:spcAft>
                <a:spcPts val="0"/>
              </a:spcAft>
              <a:defRPr sz="1600" b="1">
                <a:solidFill>
                  <a:srgbClr val="1E1B2E"/>
                </a:solidFill>
                <a:latin typeface="Calibri"/>
              </a:defRPr>
            </a:pPr>
            <a:r>
              <a:t>Team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26080" y="44805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080"/>
              </a:lnSpc>
              <a:spcAft>
                <a:spcPts val="0"/>
              </a:spcAft>
              <a:defRPr sz="1600" b="1">
                <a:solidFill>
                  <a:srgbClr val="2A8D8D"/>
                </a:solidFill>
                <a:latin typeface="Consolas"/>
              </a:defRPr>
            </a:pPr>
            <a:r>
              <a:t>$599/mo flat ($5,400/yr)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0" y="4480560"/>
            <a:ext cx="4572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Aft>
                <a:spcPts val="0"/>
              </a:spcAft>
              <a:defRPr sz="1200" b="0">
                <a:solidFill>
                  <a:srgbClr val="645E78"/>
                </a:solidFill>
                <a:latin typeface="Calibri"/>
              </a:defRPr>
            </a:pPr>
            <a:r>
              <a:t>Hosted AIR Cloud. Multi-agent dashboards. SIEM integrations</a:t>
            </a:r>
            <a:br/>
            <a:r>
              <a:t>(Datadog, Splunk, Sumo, Sentinel). Incident workflows.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0" y="448056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430"/>
              </a:lnSpc>
              <a:spcAft>
                <a:spcPts val="0"/>
              </a:spcAft>
              <a:defRPr sz="1100" b="0">
                <a:solidFill>
                  <a:srgbClr val="89849B"/>
                </a:solidFill>
                <a:latin typeface="Consolas"/>
              </a:defRPr>
            </a:pPr>
            <a:r>
              <a:t>Stripe live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557784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080"/>
              </a:lnSpc>
              <a:spcAft>
                <a:spcPts val="0"/>
              </a:spcAft>
              <a:defRPr sz="1600" b="1">
                <a:solidFill>
                  <a:srgbClr val="1E1B2E"/>
                </a:solidFill>
                <a:latin typeface="Calibri"/>
              </a:defRPr>
            </a:pPr>
            <a:r>
              <a:t>Enterprise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26080" y="55778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080"/>
              </a:lnSpc>
              <a:spcAft>
                <a:spcPts val="0"/>
              </a:spcAft>
              <a:defRPr sz="1600" b="1">
                <a:solidFill>
                  <a:srgbClr val="2A8D8D"/>
                </a:solidFill>
                <a:latin typeface="Consolas"/>
              </a:defRPr>
            </a:pPr>
            <a:r>
              <a:t>Custom ($50K+ ACV)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0" y="5577840"/>
            <a:ext cx="4572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Aft>
                <a:spcPts val="0"/>
              </a:spcAft>
              <a:defRPr sz="1200" b="0">
                <a:solidFill>
                  <a:srgbClr val="645E78"/>
                </a:solidFill>
                <a:latin typeface="Calibri"/>
              </a:defRPr>
            </a:pPr>
            <a:r>
              <a:t>SSO/SAML/RBAC. On-prem/VPC/air-gapped. Insurance carrier</a:t>
            </a:r>
            <a:br/>
            <a:r>
              <a:t>integrations. SLA. Dedicated IR contact. BAA.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15600" y="557784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430"/>
              </a:lnSpc>
              <a:spcAft>
                <a:spcPts val="0"/>
              </a:spcAft>
              <a:defRPr sz="1100" b="0">
                <a:solidFill>
                  <a:srgbClr val="89849B"/>
                </a:solidFill>
                <a:latin typeface="Consolas"/>
              </a:defRPr>
            </a:pPr>
            <a:r>
              <a:t>Pipeline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54864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0"/>
              </a:lnSpc>
              <a:spcAft>
                <a:spcPts val="0"/>
              </a:spcAft>
              <a:defRPr sz="1100" b="1">
                <a:solidFill>
                  <a:srgbClr val="8B6CB0"/>
                </a:solidFill>
                <a:latin typeface="Consolas"/>
              </a:defRPr>
            </a:pPr>
            <a:r>
              <a:t>TRACTION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0584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4680"/>
              </a:lnSpc>
              <a:spcAft>
                <a:spcPts val="0"/>
              </a:spcAft>
              <a:defRPr sz="3600" b="1">
                <a:solidFill>
                  <a:srgbClr val="1E1B2E"/>
                </a:solidFill>
                <a:latin typeface="Calibri"/>
              </a:defRPr>
            </a:pPr>
            <a:r>
              <a:t>Pre-revenue. Shipping velocity is the signal.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2286000"/>
            <a:ext cx="2560320" cy="1371600"/>
          </a:xfrm>
          <a:prstGeom prst="rect">
            <a:avLst/>
          </a:prstGeom>
          <a:solidFill>
            <a:srgbClr val="F0ECF5"/>
          </a:solidFill>
          <a:ln w="12700">
            <a:solidFill>
              <a:srgbClr val="D8D0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82880" rtlCol="0" anchor="ctr"/>
          <a:lstStyle/>
          <a:p>
            <a:pPr algn="ctr">
              <a:defRPr sz="3200" b="1">
                <a:solidFill>
                  <a:srgbClr val="1E1B2E"/>
                </a:solidFill>
                <a:latin typeface="Consolas"/>
              </a:defRPr>
            </a:pPr>
            <a:r>
              <a:rPr dirty="0"/>
              <a:t>0.</a:t>
            </a:r>
            <a:r>
              <a:rPr lang="en-US" dirty="0"/>
              <a:t>8</a:t>
            </a:r>
            <a:r>
              <a:rPr dirty="0"/>
              <a:t>.1</a:t>
            </a:r>
          </a:p>
          <a:p>
            <a:pPr>
              <a:spcBef>
                <a:spcPts val="800"/>
              </a:spcBef>
              <a:defRPr sz="1200">
                <a:solidFill>
                  <a:srgbClr val="89849B"/>
                </a:solidFill>
                <a:latin typeface="Calibri"/>
              </a:defRPr>
            </a:pPr>
            <a:r>
              <a:rPr dirty="0"/>
              <a:t>Live on </a:t>
            </a:r>
            <a:r>
              <a:rPr dirty="0" err="1"/>
              <a:t>PyPI</a:t>
            </a:r>
            <a:br>
              <a:rPr dirty="0"/>
            </a:br>
            <a:r>
              <a:rPr dirty="0"/>
              <a:t>10 releases in 10 weeks</a:t>
            </a:r>
          </a:p>
        </p:txBody>
      </p:sp>
      <p:sp>
        <p:nvSpPr>
          <p:cNvPr id="5" name="Rectangle 4"/>
          <p:cNvSpPr/>
          <p:nvPr/>
        </p:nvSpPr>
        <p:spPr>
          <a:xfrm>
            <a:off x="3566160" y="2286000"/>
            <a:ext cx="2560320" cy="1371600"/>
          </a:xfrm>
          <a:prstGeom prst="rect">
            <a:avLst/>
          </a:prstGeom>
          <a:solidFill>
            <a:srgbClr val="F0ECF5"/>
          </a:solidFill>
          <a:ln w="12700">
            <a:solidFill>
              <a:srgbClr val="D8D0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82880" rtlCol="0" anchor="ctr"/>
          <a:lstStyle/>
          <a:p>
            <a:pPr algn="ctr">
              <a:defRPr sz="3200" b="1">
                <a:solidFill>
                  <a:srgbClr val="1E1B2E"/>
                </a:solidFill>
                <a:latin typeface="Consolas"/>
              </a:defRPr>
            </a:pPr>
            <a:r>
              <a:t>14</a:t>
            </a:r>
          </a:p>
          <a:p>
            <a:pPr>
              <a:spcBef>
                <a:spcPts val="800"/>
              </a:spcBef>
              <a:defRPr sz="1200">
                <a:solidFill>
                  <a:srgbClr val="89849B"/>
                </a:solidFill>
                <a:latin typeface="Calibri"/>
              </a:defRPr>
            </a:pPr>
            <a:r>
              <a:t>Detectors shipping</a:t>
            </a:r>
            <a:br/>
            <a:r>
              <a:t>10/10 OWASP Agentic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0" y="2286000"/>
            <a:ext cx="2560320" cy="1371600"/>
          </a:xfrm>
          <a:prstGeom prst="rect">
            <a:avLst/>
          </a:prstGeom>
          <a:solidFill>
            <a:srgbClr val="F0ECF5"/>
          </a:solidFill>
          <a:ln w="12700">
            <a:solidFill>
              <a:srgbClr val="D8D0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82880" rtlCol="0" anchor="ctr"/>
          <a:lstStyle/>
          <a:p>
            <a:pPr algn="ctr">
              <a:defRPr sz="3200" b="1">
                <a:solidFill>
                  <a:srgbClr val="1E1B2E"/>
                </a:solidFill>
                <a:latin typeface="Consolas"/>
              </a:defRPr>
            </a:pPr>
            <a:r>
              <a:t>4</a:t>
            </a:r>
          </a:p>
          <a:p>
            <a:pPr>
              <a:spcBef>
                <a:spcPts val="800"/>
              </a:spcBef>
              <a:defRPr sz="1200">
                <a:solidFill>
                  <a:srgbClr val="89849B"/>
                </a:solidFill>
                <a:latin typeface="Calibri"/>
              </a:defRPr>
            </a:pPr>
            <a:r>
              <a:t>Layers shipped</a:t>
            </a:r>
            <a:br/>
            <a:r>
              <a:t>Detection to cross-agent trust</a:t>
            </a:r>
          </a:p>
        </p:txBody>
      </p:sp>
      <p:sp>
        <p:nvSpPr>
          <p:cNvPr id="7" name="Rectangle 6"/>
          <p:cNvSpPr/>
          <p:nvPr/>
        </p:nvSpPr>
        <p:spPr>
          <a:xfrm>
            <a:off x="9235440" y="2286000"/>
            <a:ext cx="2560320" cy="1371600"/>
          </a:xfrm>
          <a:prstGeom prst="rect">
            <a:avLst/>
          </a:prstGeom>
          <a:solidFill>
            <a:srgbClr val="F0ECF5"/>
          </a:solidFill>
          <a:ln w="12700">
            <a:solidFill>
              <a:srgbClr val="D8D0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82880" rtlCol="0" anchor="ctr"/>
          <a:lstStyle/>
          <a:p>
            <a:pPr algn="ctr">
              <a:defRPr sz="3200" b="1">
                <a:solidFill>
                  <a:srgbClr val="1E1B2E"/>
                </a:solidFill>
                <a:latin typeface="Consolas"/>
              </a:defRPr>
            </a:pPr>
            <a:r>
              <a:t>425+</a:t>
            </a:r>
          </a:p>
          <a:p>
            <a:pPr>
              <a:spcBef>
                <a:spcPts val="800"/>
              </a:spcBef>
              <a:defRPr sz="1200">
                <a:solidFill>
                  <a:srgbClr val="89849B"/>
                </a:solidFill>
                <a:latin typeface="Calibri"/>
              </a:defRPr>
            </a:pPr>
            <a:r>
              <a:t>Tests passing</a:t>
            </a:r>
            <a:br/>
            <a:r>
              <a:t>mypy strict, ruff clean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11480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600"/>
              </a:lnSpc>
              <a:spcAft>
                <a:spcPts val="0"/>
              </a:spcAft>
              <a:defRPr sz="2000" b="1">
                <a:solidFill>
                  <a:srgbClr val="1E1B2E"/>
                </a:solidFill>
                <a:latin typeface="Calibri"/>
              </a:defRPr>
            </a:pPr>
            <a:r>
              <a:t>Verifiable proof, not claims: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66344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250"/>
              </a:lnSpc>
              <a:spcAft>
                <a:spcPts val="900"/>
              </a:spcAft>
              <a:defRPr sz="1500">
                <a:solidFill>
                  <a:srgbClr val="3D3855"/>
                </a:solidFill>
                <a:latin typeface="Calibri"/>
              </a:defRPr>
            </a:pPr>
            <a:r>
              <a:t>Live Sigstore Rekor anchors: log index 1455601514 (Layer 1) and 1465403522 (Layer 4)</a:t>
            </a:r>
          </a:p>
          <a:p>
            <a:pPr>
              <a:lnSpc>
                <a:spcPts val="2250"/>
              </a:lnSpc>
              <a:spcAft>
                <a:spcPts val="900"/>
              </a:spcAft>
              <a:defRPr sz="1500">
                <a:solidFill>
                  <a:srgbClr val="3D3855"/>
                </a:solidFill>
                <a:latin typeface="Calibri"/>
              </a:defRPr>
            </a:pPr>
            <a:r>
              <a:t>Live Auth0 tenant integration demonstrated against production JWKS</a:t>
            </a:r>
          </a:p>
          <a:p>
            <a:pPr>
              <a:lnSpc>
                <a:spcPts val="2250"/>
              </a:lnSpc>
              <a:spcAft>
                <a:spcPts val="900"/>
              </a:spcAft>
              <a:defRPr sz="1500">
                <a:solidFill>
                  <a:srgbClr val="3D3855"/>
                </a:solidFill>
                <a:latin typeface="Calibri"/>
              </a:defRPr>
            </a:pPr>
            <a:r>
              <a:t>Vindicara dogfoods AIR on its own ops chain (vindicara.io/ops-chain)</a:t>
            </a:r>
          </a:p>
          <a:p>
            <a:pPr>
              <a:lnSpc>
                <a:spcPts val="2250"/>
              </a:lnSpc>
              <a:spcAft>
                <a:spcPts val="900"/>
              </a:spcAft>
              <a:defRPr sz="1500">
                <a:solidFill>
                  <a:srgbClr val="3D3855"/>
                </a:solidFill>
                <a:latin typeface="Calibri"/>
              </a:defRPr>
            </a:pPr>
            <a:r>
              <a:t>NVIDIA Inception Program member (April 2026)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466344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250"/>
              </a:lnSpc>
              <a:spcAft>
                <a:spcPts val="900"/>
              </a:spcAft>
              <a:defRPr sz="1500">
                <a:solidFill>
                  <a:srgbClr val="3D3855"/>
                </a:solidFill>
                <a:latin typeface="Calibri"/>
              </a:defRPr>
            </a:pPr>
            <a:r>
              <a:t>6 framework integrations: LangChain, OpenAI, Anthropic, LlamaIndex, Gemini, Google ADK</a:t>
            </a:r>
          </a:p>
          <a:p>
            <a:pPr>
              <a:lnSpc>
                <a:spcPts val="2250"/>
              </a:lnSpc>
              <a:spcAft>
                <a:spcPts val="900"/>
              </a:spcAft>
              <a:defRPr sz="1500">
                <a:solidFill>
                  <a:srgbClr val="3D3855"/>
                </a:solidFill>
                <a:latin typeface="Calibri"/>
              </a:defRPr>
            </a:pPr>
            <a:r>
              <a:t>Post-quantum signatures (ML-DSA-65 / FIPS 204) in working tree</a:t>
            </a:r>
          </a:p>
          <a:p>
            <a:pPr>
              <a:lnSpc>
                <a:spcPts val="2250"/>
              </a:lnSpc>
              <a:spcAft>
                <a:spcPts val="900"/>
              </a:spcAft>
              <a:defRPr sz="1500">
                <a:solidFill>
                  <a:srgbClr val="3D3855"/>
                </a:solidFill>
                <a:latin typeface="Calibri"/>
              </a:defRPr>
            </a:pPr>
            <a:r>
              <a:t>Full four-layer stack built by solo founder in &lt; 90 days</a:t>
            </a:r>
          </a:p>
          <a:p>
            <a:pPr>
              <a:lnSpc>
                <a:spcPts val="2250"/>
              </a:lnSpc>
              <a:spcAft>
                <a:spcPts val="900"/>
              </a:spcAft>
              <a:defRPr sz="1500">
                <a:solidFill>
                  <a:srgbClr val="3D3855"/>
                </a:solidFill>
                <a:latin typeface="Calibri"/>
              </a:defRPr>
            </a:pPr>
            <a:r>
              <a:t>Stripe payment links live for Individual and Team tiers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54864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0"/>
              </a:lnSpc>
              <a:spcAft>
                <a:spcPts val="0"/>
              </a:spcAft>
              <a:defRPr sz="1100" b="1">
                <a:solidFill>
                  <a:srgbClr val="8B6CB0"/>
                </a:solidFill>
                <a:latin typeface="Consolas"/>
              </a:defRPr>
            </a:pPr>
            <a:r>
              <a:t>GO-TO-MARKET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05840"/>
            <a:ext cx="10515600" cy="6256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4680"/>
              </a:lnSpc>
              <a:spcAft>
                <a:spcPts val="0"/>
              </a:spcAft>
              <a:defRPr sz="3600" b="1">
                <a:solidFill>
                  <a:srgbClr val="1E1B2E"/>
                </a:solidFill>
                <a:latin typeface="Calibri"/>
              </a:defRPr>
            </a:pPr>
            <a:r>
              <a:rPr sz="2400" dirty="0"/>
              <a:t>Open-source wedge. Design partners. Enterprise contracts.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2860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20"/>
              </a:lnSpc>
              <a:spcAft>
                <a:spcPts val="0"/>
              </a:spcAft>
              <a:defRPr sz="1400" b="1">
                <a:solidFill>
                  <a:srgbClr val="8B6CB0"/>
                </a:solidFill>
                <a:latin typeface="Consolas"/>
              </a:defRPr>
            </a:pPr>
            <a:r>
              <a:t>Phase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0" y="22860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20"/>
              </a:lnSpc>
              <a:spcAft>
                <a:spcPts val="0"/>
              </a:spcAft>
              <a:defRPr sz="1400" b="0">
                <a:solidFill>
                  <a:srgbClr val="2A8D8D"/>
                </a:solidFill>
                <a:latin typeface="Consolas"/>
              </a:defRPr>
            </a:pPr>
            <a:r>
              <a:t>Now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40480" y="22860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080"/>
              </a:lnSpc>
              <a:spcAft>
                <a:spcPts val="0"/>
              </a:spcAft>
              <a:defRPr sz="1600" b="1">
                <a:solidFill>
                  <a:srgbClr val="1E1B2E"/>
                </a:solidFill>
                <a:latin typeface="Calibri"/>
              </a:defRPr>
            </a:pPr>
            <a:r>
              <a:t>Public launch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260604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90"/>
              </a:lnSpc>
              <a:spcAft>
                <a:spcPts val="0"/>
              </a:spcAft>
              <a:defRPr sz="1300" b="0">
                <a:solidFill>
                  <a:srgbClr val="645E78"/>
                </a:solidFill>
                <a:latin typeface="Calibri"/>
              </a:defRPr>
            </a:pPr>
            <a:r>
              <a:t>OSS on PyPI. HN + LinkedIn + founder outbound. 500 GitHub stars, 100 weekly pip installs in 90 days. 3-5 design partner conversations.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38328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20"/>
              </a:lnSpc>
              <a:spcAft>
                <a:spcPts val="0"/>
              </a:spcAft>
              <a:defRPr sz="1400" b="1">
                <a:solidFill>
                  <a:srgbClr val="8B6CB0"/>
                </a:solidFill>
                <a:latin typeface="Consolas"/>
              </a:defRPr>
            </a:pPr>
            <a:r>
              <a:t>Phase 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86000" y="338328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20"/>
              </a:lnSpc>
              <a:spcAft>
                <a:spcPts val="0"/>
              </a:spcAft>
              <a:defRPr sz="1400" b="0">
                <a:solidFill>
                  <a:srgbClr val="2A8D8D"/>
                </a:solidFill>
                <a:latin typeface="Consolas"/>
              </a:defRPr>
            </a:pPr>
            <a:r>
              <a:t>Day 60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33832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080"/>
              </a:lnSpc>
              <a:spcAft>
                <a:spcPts val="0"/>
              </a:spcAft>
              <a:defRPr sz="1600" b="1">
                <a:solidFill>
                  <a:srgbClr val="1E1B2E"/>
                </a:solidFill>
                <a:latin typeface="Calibri"/>
              </a:defRPr>
            </a:pPr>
            <a:r>
              <a:t>First revenue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40480" y="370332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90"/>
              </a:lnSpc>
              <a:spcAft>
                <a:spcPts val="0"/>
              </a:spcAft>
              <a:defRPr sz="1300" b="0">
                <a:solidFill>
                  <a:srgbClr val="645E78"/>
                </a:solidFill>
                <a:latin typeface="Calibri"/>
              </a:defRPr>
            </a:pPr>
            <a:r>
              <a:t>AIR Cloud Team tier goes live. First design partner converts to paid. Target: first paying customer by day 60.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48056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20"/>
              </a:lnSpc>
              <a:spcAft>
                <a:spcPts val="0"/>
              </a:spcAft>
              <a:defRPr sz="1400" b="1">
                <a:solidFill>
                  <a:srgbClr val="8B6CB0"/>
                </a:solidFill>
                <a:latin typeface="Consolas"/>
              </a:defRPr>
            </a:pPr>
            <a:r>
              <a:t>Phase 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286000" y="448056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20"/>
              </a:lnSpc>
              <a:spcAft>
                <a:spcPts val="0"/>
              </a:spcAft>
              <a:defRPr sz="1400" b="0">
                <a:solidFill>
                  <a:srgbClr val="2A8D8D"/>
                </a:solidFill>
                <a:latin typeface="Consolas"/>
              </a:defRPr>
            </a:pPr>
            <a:r>
              <a:t>Month 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40480" y="44805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080"/>
              </a:lnSpc>
              <a:spcAft>
                <a:spcPts val="0"/>
              </a:spcAft>
              <a:defRPr sz="1600" b="1">
                <a:solidFill>
                  <a:srgbClr val="1E1B2E"/>
                </a:solidFill>
                <a:latin typeface="Calibri"/>
              </a:defRPr>
            </a:pPr>
            <a:r>
              <a:t>Scale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40480" y="480060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90"/>
              </a:lnSpc>
              <a:spcAft>
                <a:spcPts val="0"/>
              </a:spcAft>
              <a:defRPr sz="1300" b="0">
                <a:solidFill>
                  <a:srgbClr val="645E78"/>
                </a:solidFill>
                <a:latin typeface="Calibri"/>
              </a:defRPr>
            </a:pPr>
            <a:r>
              <a:t>AIR Cloud GA. 10+ paying Team-tier teams. First enterprise LOI. SOC 2 Type I observation begins.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557784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20"/>
              </a:lnSpc>
              <a:spcAft>
                <a:spcPts val="0"/>
              </a:spcAft>
              <a:defRPr sz="1400" b="1">
                <a:solidFill>
                  <a:srgbClr val="8B6CB0"/>
                </a:solidFill>
                <a:latin typeface="Consolas"/>
              </a:defRPr>
            </a:pPr>
            <a:r>
              <a:t>Phase 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286000" y="557784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20"/>
              </a:lnSpc>
              <a:spcAft>
                <a:spcPts val="0"/>
              </a:spcAft>
              <a:defRPr sz="1400" b="0">
                <a:solidFill>
                  <a:srgbClr val="2A8D8D"/>
                </a:solidFill>
                <a:latin typeface="Consolas"/>
              </a:defRPr>
            </a:pPr>
            <a:r>
              <a:t>Month 12-18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840480" y="55778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080"/>
              </a:lnSpc>
              <a:spcAft>
                <a:spcPts val="0"/>
              </a:spcAft>
              <a:defRPr sz="1600" b="1">
                <a:solidFill>
                  <a:srgbClr val="1E1B2E"/>
                </a:solidFill>
                <a:latin typeface="Calibri"/>
              </a:defRPr>
            </a:pPr>
            <a:r>
              <a:t>Enterprise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840480" y="5897879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90"/>
              </a:lnSpc>
              <a:spcAft>
                <a:spcPts val="0"/>
              </a:spcAft>
              <a:defRPr sz="1300" b="0">
                <a:solidFill>
                  <a:srgbClr val="645E78"/>
                </a:solidFill>
                <a:latin typeface="Calibri"/>
              </a:defRPr>
            </a:pPr>
            <a:r>
              <a:t>Enterprise tier live. 50 customers at $50K ACV. SOC 2 Type I complete. Series A pitch-ready.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658368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90"/>
              </a:lnSpc>
              <a:spcAft>
                <a:spcPts val="0"/>
              </a:spcAft>
              <a:defRPr sz="1300" b="0">
                <a:solidFill>
                  <a:srgbClr val="89849B"/>
                </a:solidFill>
                <a:latin typeface="Calibri"/>
              </a:defRPr>
            </a:pPr>
            <a:r>
              <a:t>Content-led: 'State of MCP Security' original research, EU AI Act Article 72 developer guide, quickstart tutorials.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54864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0"/>
              </a:lnSpc>
              <a:spcAft>
                <a:spcPts val="0"/>
              </a:spcAft>
              <a:defRPr sz="1100" b="1">
                <a:solidFill>
                  <a:srgbClr val="8B6CB0"/>
                </a:solidFill>
                <a:latin typeface="Consolas"/>
              </a:defRPr>
            </a:pPr>
            <a:r>
              <a:t>PRODUCT ROADMAP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0584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4680"/>
              </a:lnSpc>
              <a:spcAft>
                <a:spcPts val="0"/>
              </a:spcAft>
              <a:defRPr sz="3600" b="1">
                <a:solidFill>
                  <a:srgbClr val="1E1B2E"/>
                </a:solidFill>
                <a:latin typeface="Calibri"/>
              </a:defRPr>
            </a:pPr>
            <a:r>
              <a:t>Shipped fast. Building deeper.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10312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600"/>
              </a:lnSpc>
              <a:spcAft>
                <a:spcPts val="0"/>
              </a:spcAft>
              <a:defRPr sz="2000" b="1">
                <a:solidFill>
                  <a:srgbClr val="1E1B2E"/>
                </a:solidFill>
                <a:latin typeface="Calibri"/>
              </a:defRPr>
            </a:pPr>
            <a:r>
              <a:t>Shipped (last 10 weeks)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651760"/>
            <a:ext cx="50292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100"/>
              </a:lnSpc>
              <a:spcAft>
                <a:spcPts val="840"/>
              </a:spcAft>
              <a:defRPr sz="1400">
                <a:solidFill>
                  <a:srgbClr val="3D3855"/>
                </a:solidFill>
                <a:latin typeface="Calibri"/>
              </a:defRPr>
            </a:pPr>
            <a:r>
              <a:rPr dirty="0"/>
              <a:t>14 detectors, 10/10 OWASP Agentic coverage</a:t>
            </a:r>
          </a:p>
          <a:p>
            <a:pPr>
              <a:lnSpc>
                <a:spcPts val="2100"/>
              </a:lnSpc>
              <a:spcAft>
                <a:spcPts val="840"/>
              </a:spcAft>
              <a:defRPr sz="1400">
                <a:solidFill>
                  <a:srgbClr val="3D3855"/>
                </a:solidFill>
                <a:latin typeface="Calibri"/>
              </a:defRPr>
            </a:pPr>
            <a:r>
              <a:rPr dirty="0"/>
              <a:t>Layer 1: RFC 3161 + </a:t>
            </a:r>
            <a:r>
              <a:rPr dirty="0" err="1"/>
              <a:t>Sigstore</a:t>
            </a:r>
            <a:r>
              <a:rPr dirty="0"/>
              <a:t> </a:t>
            </a:r>
            <a:r>
              <a:rPr dirty="0" err="1"/>
              <a:t>Rekor</a:t>
            </a:r>
            <a:r>
              <a:rPr dirty="0"/>
              <a:t> anchoring</a:t>
            </a:r>
          </a:p>
          <a:p>
            <a:pPr>
              <a:lnSpc>
                <a:spcPts val="2100"/>
              </a:lnSpc>
              <a:spcAft>
                <a:spcPts val="840"/>
              </a:spcAft>
              <a:defRPr sz="1400">
                <a:solidFill>
                  <a:srgbClr val="3D3855"/>
                </a:solidFill>
                <a:latin typeface="Calibri"/>
              </a:defRPr>
            </a:pPr>
            <a:r>
              <a:rPr dirty="0"/>
              <a:t>Layer 2: Causal reasoning + forensic explanation</a:t>
            </a:r>
          </a:p>
          <a:p>
            <a:pPr>
              <a:lnSpc>
                <a:spcPts val="2100"/>
              </a:lnSpc>
              <a:spcAft>
                <a:spcPts val="840"/>
              </a:spcAft>
              <a:defRPr sz="1400">
                <a:solidFill>
                  <a:srgbClr val="3D3855"/>
                </a:solidFill>
                <a:latin typeface="Calibri"/>
              </a:defRPr>
            </a:pPr>
            <a:r>
              <a:rPr dirty="0"/>
              <a:t>Layer 3: Auth0-verified containment + step-up</a:t>
            </a:r>
          </a:p>
          <a:p>
            <a:pPr>
              <a:lnSpc>
                <a:spcPts val="2100"/>
              </a:lnSpc>
              <a:spcAft>
                <a:spcPts val="840"/>
              </a:spcAft>
              <a:defRPr sz="1400">
                <a:solidFill>
                  <a:srgbClr val="3D3855"/>
                </a:solidFill>
                <a:latin typeface="Calibri"/>
              </a:defRPr>
            </a:pPr>
            <a:r>
              <a:rPr dirty="0"/>
              <a:t>Layer 4 Wave 1: Cross-agent handoff protocol (alpha)</a:t>
            </a:r>
          </a:p>
          <a:p>
            <a:pPr>
              <a:lnSpc>
                <a:spcPts val="2100"/>
              </a:lnSpc>
              <a:spcAft>
                <a:spcPts val="840"/>
              </a:spcAft>
              <a:defRPr sz="1400">
                <a:solidFill>
                  <a:srgbClr val="3D3855"/>
                </a:solidFill>
                <a:latin typeface="Calibri"/>
              </a:defRPr>
            </a:pPr>
            <a:r>
              <a:rPr dirty="0"/>
              <a:t>ML-DSA-65 post-quantum signatures (experimental)</a:t>
            </a:r>
          </a:p>
          <a:p>
            <a:pPr>
              <a:lnSpc>
                <a:spcPts val="2100"/>
              </a:lnSpc>
              <a:spcAft>
                <a:spcPts val="840"/>
              </a:spcAft>
              <a:defRPr sz="1400">
                <a:solidFill>
                  <a:srgbClr val="3D3855"/>
                </a:solidFill>
                <a:latin typeface="Calibri"/>
              </a:defRPr>
            </a:pPr>
            <a:r>
              <a:rPr dirty="0"/>
              <a:t>6 framework integrations</a:t>
            </a:r>
          </a:p>
          <a:p>
            <a:pPr>
              <a:lnSpc>
                <a:spcPts val="2100"/>
              </a:lnSpc>
              <a:spcAft>
                <a:spcPts val="840"/>
              </a:spcAft>
              <a:defRPr sz="1400">
                <a:solidFill>
                  <a:srgbClr val="3D3855"/>
                </a:solidFill>
                <a:latin typeface="Calibri"/>
              </a:defRPr>
            </a:pPr>
            <a:r>
              <a:rPr dirty="0"/>
              <a:t>Ops chain dogfood on production infrastructure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210312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600"/>
              </a:lnSpc>
              <a:spcAft>
                <a:spcPts val="0"/>
              </a:spcAft>
              <a:defRPr sz="2000" b="1">
                <a:solidFill>
                  <a:srgbClr val="1E1B2E"/>
                </a:solidFill>
                <a:latin typeface="Calibri"/>
              </a:defRPr>
            </a:pPr>
            <a:r>
              <a:t>Next 12 months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2651760"/>
            <a:ext cx="50292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100"/>
              </a:lnSpc>
              <a:spcAft>
                <a:spcPts val="840"/>
              </a:spcAft>
              <a:defRPr sz="1400">
                <a:solidFill>
                  <a:srgbClr val="3D3855"/>
                </a:solidFill>
                <a:latin typeface="Calibri"/>
              </a:defRPr>
            </a:pPr>
            <a:r>
              <a:t>Layer 4 Wave 2: cross-tenant federation (Fulcio + OIDC)</a:t>
            </a:r>
          </a:p>
          <a:p>
            <a:pPr>
              <a:lnSpc>
                <a:spcPts val="2100"/>
              </a:lnSpc>
              <a:spcAft>
                <a:spcPts val="840"/>
              </a:spcAft>
              <a:defRPr sz="1400">
                <a:solidFill>
                  <a:srgbClr val="3D3855"/>
                </a:solidFill>
                <a:latin typeface="Calibri"/>
              </a:defRPr>
            </a:pPr>
            <a:r>
              <a:t>Layer 4 v1.5: Okta, Entra ID, SPIFFE enterprise adapters</a:t>
            </a:r>
          </a:p>
          <a:p>
            <a:pPr>
              <a:lnSpc>
                <a:spcPts val="2100"/>
              </a:lnSpc>
              <a:spcAft>
                <a:spcPts val="840"/>
              </a:spcAft>
              <a:defRPr sz="1400">
                <a:solidFill>
                  <a:srgbClr val="3D3855"/>
                </a:solidFill>
                <a:latin typeface="Calibri"/>
              </a:defRPr>
            </a:pPr>
            <a:r>
              <a:t>AIR Cloud: hosted ingestion + dashboards (Team tier)</a:t>
            </a:r>
          </a:p>
          <a:p>
            <a:pPr>
              <a:lnSpc>
                <a:spcPts val="2100"/>
              </a:lnSpc>
              <a:spcAft>
                <a:spcPts val="840"/>
              </a:spcAft>
              <a:defRPr sz="1400">
                <a:solidFill>
                  <a:srgbClr val="3D3855"/>
                </a:solidFill>
                <a:latin typeface="Calibri"/>
              </a:defRPr>
            </a:pPr>
            <a:r>
              <a:t>NVIDIA partnership Tier 1: NeMo Guardrails ingestion</a:t>
            </a:r>
          </a:p>
          <a:p>
            <a:pPr>
              <a:lnSpc>
                <a:spcPts val="2100"/>
              </a:lnSpc>
              <a:spcAft>
                <a:spcPts val="840"/>
              </a:spcAft>
              <a:defRPr sz="1400">
                <a:solidFill>
                  <a:srgbClr val="3D3855"/>
                </a:solidFill>
                <a:latin typeface="Calibri"/>
              </a:defRPr>
            </a:pPr>
            <a:r>
              <a:t>NVIDIA Tier 2: NemoGuard classification corroboration</a:t>
            </a:r>
          </a:p>
          <a:p>
            <a:pPr>
              <a:lnSpc>
                <a:spcPts val="2100"/>
              </a:lnSpc>
              <a:spcAft>
                <a:spcPts val="840"/>
              </a:spcAft>
              <a:defRPr sz="1400">
                <a:solidFill>
                  <a:srgbClr val="3D3855"/>
                </a:solidFill>
                <a:latin typeface="Calibri"/>
              </a:defRPr>
            </a:pPr>
            <a:r>
              <a:t>CrewAI, AutoGen, AG2 framework integrations</a:t>
            </a:r>
          </a:p>
          <a:p>
            <a:pPr>
              <a:lnSpc>
                <a:spcPts val="2100"/>
              </a:lnSpc>
              <a:spcAft>
                <a:spcPts val="840"/>
              </a:spcAft>
              <a:defRPr sz="1400">
                <a:solidFill>
                  <a:srgbClr val="3D3855"/>
                </a:solidFill>
                <a:latin typeface="Calibri"/>
              </a:defRPr>
            </a:pPr>
            <a:r>
              <a:t>Learned-baseline ASI10 anomaly detection (statistical profiling)</a:t>
            </a:r>
          </a:p>
          <a:p>
            <a:pPr>
              <a:lnSpc>
                <a:spcPts val="2100"/>
              </a:lnSpc>
              <a:spcAft>
                <a:spcPts val="840"/>
              </a:spcAft>
              <a:defRPr sz="1400">
                <a:solidFill>
                  <a:srgbClr val="3D3855"/>
                </a:solidFill>
                <a:latin typeface="Calibri"/>
              </a:defRPr>
            </a:pPr>
            <a:r>
              <a:t>Full ASI04 supply chain coverage beyond MCP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54864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0"/>
              </a:lnSpc>
              <a:spcAft>
                <a:spcPts val="0"/>
              </a:spcAft>
              <a:defRPr sz="1100" b="1">
                <a:solidFill>
                  <a:srgbClr val="8B6CB0"/>
                </a:solidFill>
                <a:latin typeface="Consolas"/>
              </a:defRPr>
            </a:pPr>
            <a:r>
              <a:t>FINANCIAL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0584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4680"/>
              </a:lnSpc>
              <a:spcAft>
                <a:spcPts val="0"/>
              </a:spcAft>
              <a:defRPr sz="3600" b="1">
                <a:solidFill>
                  <a:srgbClr val="1E1B2E"/>
                </a:solidFill>
                <a:latin typeface="Calibri"/>
              </a:defRPr>
            </a:pPr>
            <a:r>
              <a:t>Path to $2.5M ARR in 18 months.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28600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340"/>
              </a:lnSpc>
              <a:spcAft>
                <a:spcPts val="0"/>
              </a:spcAft>
              <a:defRPr sz="1800" b="0">
                <a:solidFill>
                  <a:srgbClr val="3D3855"/>
                </a:solidFill>
                <a:latin typeface="Calibri"/>
              </a:defRPr>
            </a:pPr>
            <a:r>
              <a:t>Revenue model: land with OSS, convert to Team ($599/mo), expand to Enterprise ($50K+ ACV).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3017520"/>
            <a:ext cx="3383280" cy="1371600"/>
          </a:xfrm>
          <a:prstGeom prst="rect">
            <a:avLst/>
          </a:prstGeom>
          <a:solidFill>
            <a:srgbClr val="F0ECF5"/>
          </a:solidFill>
          <a:ln w="12700">
            <a:solidFill>
              <a:srgbClr val="D8D0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82880" rtlCol="0" anchor="ctr"/>
          <a:lstStyle/>
          <a:p>
            <a:pPr algn="ctr">
              <a:defRPr sz="3200" b="1">
                <a:solidFill>
                  <a:srgbClr val="1E1B2E"/>
                </a:solidFill>
                <a:latin typeface="Consolas"/>
              </a:defRPr>
            </a:pPr>
            <a:r>
              <a:t>50</a:t>
            </a:r>
          </a:p>
          <a:p>
            <a:pPr>
              <a:spcBef>
                <a:spcPts val="800"/>
              </a:spcBef>
              <a:defRPr sz="1200">
                <a:solidFill>
                  <a:srgbClr val="89849B"/>
                </a:solidFill>
                <a:latin typeface="Calibri"/>
              </a:defRPr>
            </a:pPr>
            <a:r>
              <a:t>Target customers</a:t>
            </a:r>
            <a:br/>
            <a:r>
              <a:t>at $50K ACV in 18 months</a:t>
            </a:r>
          </a:p>
        </p:txBody>
      </p:sp>
      <p:sp>
        <p:nvSpPr>
          <p:cNvPr id="6" name="Rectangle 5"/>
          <p:cNvSpPr/>
          <p:nvPr/>
        </p:nvSpPr>
        <p:spPr>
          <a:xfrm>
            <a:off x="4389120" y="3017520"/>
            <a:ext cx="3383280" cy="1371600"/>
          </a:xfrm>
          <a:prstGeom prst="rect">
            <a:avLst/>
          </a:prstGeom>
          <a:solidFill>
            <a:srgbClr val="F0ECF5"/>
          </a:solidFill>
          <a:ln w="12700">
            <a:solidFill>
              <a:srgbClr val="D8D0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82880" rtlCol="0" anchor="ctr"/>
          <a:lstStyle/>
          <a:p>
            <a:pPr algn="ctr">
              <a:defRPr sz="3200" b="1">
                <a:solidFill>
                  <a:srgbClr val="1E1B2E"/>
                </a:solidFill>
                <a:latin typeface="Consolas"/>
              </a:defRPr>
            </a:pPr>
            <a:r>
              <a:t>$2.5M</a:t>
            </a:r>
          </a:p>
          <a:p>
            <a:pPr>
              <a:spcBef>
                <a:spcPts val="800"/>
              </a:spcBef>
              <a:defRPr sz="1200">
                <a:solidFill>
                  <a:srgbClr val="89849B"/>
                </a:solidFill>
                <a:latin typeface="Calibri"/>
              </a:defRPr>
            </a:pPr>
            <a:r>
              <a:t>ARR target</a:t>
            </a:r>
            <a:br/>
            <a:r>
              <a:t>18-month horizon</a:t>
            </a:r>
          </a:p>
        </p:txBody>
      </p:sp>
      <p:sp>
        <p:nvSpPr>
          <p:cNvPr id="7" name="Rectangle 6"/>
          <p:cNvSpPr/>
          <p:nvPr/>
        </p:nvSpPr>
        <p:spPr>
          <a:xfrm>
            <a:off x="8046720" y="3017520"/>
            <a:ext cx="3383280" cy="1371600"/>
          </a:xfrm>
          <a:prstGeom prst="rect">
            <a:avLst/>
          </a:prstGeom>
          <a:solidFill>
            <a:srgbClr val="F0ECF5"/>
          </a:solidFill>
          <a:ln w="12700">
            <a:solidFill>
              <a:srgbClr val="D8D0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82880" rtlCol="0" anchor="ctr"/>
          <a:lstStyle/>
          <a:p>
            <a:pPr algn="ctr">
              <a:defRPr sz="3200" b="1">
                <a:solidFill>
                  <a:srgbClr val="1E1B2E"/>
                </a:solidFill>
                <a:latin typeface="Consolas"/>
              </a:defRPr>
            </a:pPr>
            <a:r>
              <a:t>$0</a:t>
            </a:r>
          </a:p>
          <a:p>
            <a:pPr>
              <a:spcBef>
                <a:spcPts val="800"/>
              </a:spcBef>
              <a:defRPr sz="1200">
                <a:solidFill>
                  <a:srgbClr val="89849B"/>
                </a:solidFill>
                <a:latin typeface="Calibri"/>
              </a:defRPr>
            </a:pPr>
            <a:r>
              <a:t>Current revenue</a:t>
            </a:r>
            <a:br/>
            <a:r>
              <a:t>Pre-revenue, pre-launch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84632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340"/>
              </a:lnSpc>
              <a:spcAft>
                <a:spcPts val="0"/>
              </a:spcAft>
              <a:defRPr sz="1800" b="1">
                <a:solidFill>
                  <a:srgbClr val="1E1B2E"/>
                </a:solidFill>
                <a:latin typeface="Calibri"/>
              </a:defRPr>
            </a:pPr>
            <a:r>
              <a:t>Unit economics (at scale):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394960"/>
            <a:ext cx="5029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250"/>
              </a:lnSpc>
              <a:spcAft>
                <a:spcPts val="900"/>
              </a:spcAft>
              <a:defRPr sz="1500">
                <a:solidFill>
                  <a:srgbClr val="3D3855"/>
                </a:solidFill>
                <a:latin typeface="Calibri"/>
              </a:defRPr>
            </a:pPr>
            <a:r>
              <a:t>OSS tier: $0 marginal cost (PyPI hosting is free)</a:t>
            </a:r>
          </a:p>
          <a:p>
            <a:pPr>
              <a:lnSpc>
                <a:spcPts val="2250"/>
              </a:lnSpc>
              <a:spcAft>
                <a:spcPts val="900"/>
              </a:spcAft>
              <a:defRPr sz="1500">
                <a:solidFill>
                  <a:srgbClr val="3D3855"/>
                </a:solidFill>
                <a:latin typeface="Calibri"/>
              </a:defRPr>
            </a:pPr>
            <a:r>
              <a:t>Team tier: ~95% gross margin (compute is minimal; chains are client-side)</a:t>
            </a:r>
          </a:p>
          <a:p>
            <a:pPr>
              <a:lnSpc>
                <a:spcPts val="2250"/>
              </a:lnSpc>
              <a:spcAft>
                <a:spcPts val="900"/>
              </a:spcAft>
              <a:defRPr sz="1500">
                <a:solidFill>
                  <a:srgbClr val="3D3855"/>
                </a:solidFill>
                <a:latin typeface="Calibri"/>
              </a:defRPr>
            </a:pPr>
            <a:r>
              <a:t>Enterprise: $50K-$250K ACV, contract-based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5394960"/>
            <a:ext cx="5029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250"/>
              </a:lnSpc>
              <a:spcAft>
                <a:spcPts val="900"/>
              </a:spcAft>
              <a:defRPr sz="1500">
                <a:solidFill>
                  <a:srgbClr val="3D3855"/>
                </a:solidFill>
                <a:latin typeface="Calibri"/>
              </a:defRPr>
            </a:pPr>
            <a:r>
              <a:t>AWS cost envelope: ~$5/mo at launch traffic (ops chain dogfood baseline)</a:t>
            </a:r>
          </a:p>
          <a:p>
            <a:pPr>
              <a:lnSpc>
                <a:spcPts val="2250"/>
              </a:lnSpc>
              <a:spcAft>
                <a:spcPts val="900"/>
              </a:spcAft>
              <a:defRPr sz="1500">
                <a:solidFill>
                  <a:srgbClr val="3D3855"/>
                </a:solidFill>
                <a:latin typeface="Calibri"/>
              </a:defRPr>
            </a:pPr>
            <a:r>
              <a:t>No GPU dependency; cryptographic operations run on CPU</a:t>
            </a:r>
          </a:p>
          <a:p>
            <a:pPr>
              <a:lnSpc>
                <a:spcPts val="2250"/>
              </a:lnSpc>
              <a:spcAft>
                <a:spcPts val="900"/>
              </a:spcAft>
              <a:defRPr sz="1500">
                <a:solidFill>
                  <a:srgbClr val="3D3855"/>
                </a:solidFill>
                <a:latin typeface="Calibri"/>
              </a:defRPr>
            </a:pPr>
            <a:r>
              <a:t>Revenue recognition: SaaS (monthly/annual subscriptions)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54864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0"/>
              </a:lnSpc>
              <a:spcAft>
                <a:spcPts val="0"/>
              </a:spcAft>
              <a:defRPr sz="1100" b="1">
                <a:solidFill>
                  <a:srgbClr val="8B6CB0"/>
                </a:solidFill>
                <a:latin typeface="Consolas"/>
              </a:defRPr>
            </a:pPr>
            <a:r>
              <a:t>USES OF CAPITAL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0584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4680"/>
              </a:lnSpc>
              <a:spcAft>
                <a:spcPts val="0"/>
              </a:spcAft>
              <a:defRPr sz="3600" b="1">
                <a:solidFill>
                  <a:srgbClr val="1E1B2E"/>
                </a:solidFill>
                <a:latin typeface="Calibri"/>
              </a:defRPr>
            </a:pPr>
            <a:r>
              <a:t>$2-3M seed. 18 months of runway.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1945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080"/>
              </a:lnSpc>
              <a:spcAft>
                <a:spcPts val="0"/>
              </a:spcAft>
              <a:defRPr sz="1600" b="1">
                <a:solidFill>
                  <a:srgbClr val="1E1B2E"/>
                </a:solidFill>
                <a:latin typeface="Calibri"/>
              </a:defRPr>
            </a:pPr>
            <a:r>
              <a:t>Engineering (2 senior hires)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0" y="219456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080"/>
              </a:lnSpc>
              <a:spcAft>
                <a:spcPts val="0"/>
              </a:spcAft>
              <a:defRPr sz="1600" b="1">
                <a:solidFill>
                  <a:srgbClr val="2A8D8D"/>
                </a:solidFill>
                <a:latin typeface="Consolas"/>
              </a:defRPr>
            </a:pPr>
            <a:r>
              <a:t>60%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0" y="2194560"/>
            <a:ext cx="5029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Aft>
                <a:spcPts val="0"/>
              </a:spcAft>
              <a:defRPr sz="1200" b="0">
                <a:solidFill>
                  <a:srgbClr val="645E78"/>
                </a:solidFill>
                <a:latin typeface="Calibri"/>
              </a:defRPr>
            </a:pPr>
            <a:r>
              <a:t>Senior Engineer #1: Layer 1 Trust Anchor hardening, key rotation, key transparency log.</a:t>
            </a:r>
            <a:br/>
            <a:r>
              <a:t>Senior Engineer #2: Layer 4 handoff identity, Fulcio + OIDC cross-tenant federation.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1089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080"/>
              </a:lnSpc>
              <a:spcAft>
                <a:spcPts val="0"/>
              </a:spcAft>
              <a:defRPr sz="1600" b="1">
                <a:solidFill>
                  <a:srgbClr val="1E1B2E"/>
                </a:solidFill>
                <a:latin typeface="Calibri"/>
              </a:defRPr>
            </a:pPr>
            <a:r>
              <a:t>Developer Relations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0" y="310896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080"/>
              </a:lnSpc>
              <a:spcAft>
                <a:spcPts val="0"/>
              </a:spcAft>
              <a:defRPr sz="1600" b="1">
                <a:solidFill>
                  <a:srgbClr val="2A8D8D"/>
                </a:solidFill>
                <a:latin typeface="Consolas"/>
              </a:defRPr>
            </a:pPr>
            <a:r>
              <a:t>15%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0" y="3108960"/>
            <a:ext cx="5029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Aft>
                <a:spcPts val="0"/>
              </a:spcAft>
              <a:defRPr sz="1200" b="0">
                <a:solidFill>
                  <a:srgbClr val="645E78"/>
                </a:solidFill>
                <a:latin typeface="Calibri"/>
              </a:defRPr>
            </a:pPr>
            <a:r>
              <a:t>Drive OSS adoption across the LangChain ecosystem. Content strategy: original research,</a:t>
            </a:r>
            <a:br/>
            <a:r>
              <a:t>EU AI Act guides, conference presence, community building.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0233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080"/>
              </a:lnSpc>
              <a:spcAft>
                <a:spcPts val="0"/>
              </a:spcAft>
              <a:defRPr sz="1600" b="1">
                <a:solidFill>
                  <a:srgbClr val="1E1B2E"/>
                </a:solidFill>
                <a:latin typeface="Calibri"/>
              </a:defRPr>
            </a:pPr>
            <a:r>
              <a:t>Design Partner Conversion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0" y="402336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080"/>
              </a:lnSpc>
              <a:spcAft>
                <a:spcPts val="0"/>
              </a:spcAft>
              <a:defRPr sz="1600" b="1">
                <a:solidFill>
                  <a:srgbClr val="2A8D8D"/>
                </a:solidFill>
                <a:latin typeface="Consolas"/>
              </a:defRPr>
            </a:pPr>
            <a:r>
              <a:t>10%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4023360"/>
            <a:ext cx="5029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Aft>
                <a:spcPts val="0"/>
              </a:spcAft>
              <a:defRPr sz="1200" b="0">
                <a:solidFill>
                  <a:srgbClr val="645E78"/>
                </a:solidFill>
                <a:latin typeface="Calibri"/>
              </a:defRPr>
            </a:pPr>
            <a:r>
              <a:t>Convert 3-5 design partners to paid contracts. Fund pilot deployments, custom integrations,</a:t>
            </a:r>
            <a:br/>
            <a:r>
              <a:t>and security audits needed to close enterprise LOIs.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49377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080"/>
              </a:lnSpc>
              <a:spcAft>
                <a:spcPts val="0"/>
              </a:spcAft>
              <a:defRPr sz="1600" b="1">
                <a:solidFill>
                  <a:srgbClr val="1E1B2E"/>
                </a:solidFill>
                <a:latin typeface="Calibri"/>
              </a:defRPr>
            </a:pPr>
            <a:r>
              <a:t>Infrastructure + Security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0" y="493776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080"/>
              </a:lnSpc>
              <a:spcAft>
                <a:spcPts val="0"/>
              </a:spcAft>
              <a:defRPr sz="1600" b="1">
                <a:solidFill>
                  <a:srgbClr val="2A8D8D"/>
                </a:solidFill>
                <a:latin typeface="Consolas"/>
              </a:defRPr>
            </a:pPr>
            <a:r>
              <a:t>10%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0" y="4937760"/>
            <a:ext cx="5029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Aft>
                <a:spcPts val="0"/>
              </a:spcAft>
              <a:defRPr sz="1200" b="0">
                <a:solidFill>
                  <a:srgbClr val="645E78"/>
                </a:solidFill>
                <a:latin typeface="Calibri"/>
              </a:defRPr>
            </a:pPr>
            <a:r>
              <a:t>AWS compute for AIR Cloud. SOC 2 Type I audit. Third-party security audit of the SDK.</a:t>
            </a:r>
            <a:br/>
            <a:r>
              <a:t>Domain, tooling, CI/CD.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58521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080"/>
              </a:lnSpc>
              <a:spcAft>
                <a:spcPts val="0"/>
              </a:spcAft>
              <a:defRPr sz="1600" b="1">
                <a:solidFill>
                  <a:srgbClr val="1E1B2E"/>
                </a:solidFill>
                <a:latin typeface="Calibri"/>
              </a:defRPr>
            </a:pPr>
            <a:r>
              <a:t>Legal + Operations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0" y="585216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080"/>
              </a:lnSpc>
              <a:spcAft>
                <a:spcPts val="0"/>
              </a:spcAft>
              <a:defRPr sz="1600" b="1">
                <a:solidFill>
                  <a:srgbClr val="2A8D8D"/>
                </a:solidFill>
                <a:latin typeface="Consolas"/>
              </a:defRPr>
            </a:pPr>
            <a:r>
              <a:t>5%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5852160"/>
            <a:ext cx="5029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Aft>
                <a:spcPts val="0"/>
              </a:spcAft>
              <a:defRPr sz="1200" b="0">
                <a:solidFill>
                  <a:srgbClr val="645E78"/>
                </a:solidFill>
                <a:latin typeface="Calibri"/>
              </a:defRPr>
            </a:pPr>
            <a:r>
              <a:t>Delaware re-domicile. IP assignment. Standard SAFE/priced-round legal. Insurance.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54864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0"/>
              </a:lnSpc>
              <a:spcAft>
                <a:spcPts val="0"/>
              </a:spcAft>
              <a:defRPr sz="1100" b="1">
                <a:solidFill>
                  <a:srgbClr val="8B6CB0"/>
                </a:solidFill>
                <a:latin typeface="Consolas"/>
              </a:defRPr>
            </a:pPr>
            <a:r>
              <a:t>RISKS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0584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4680"/>
              </a:lnSpc>
              <a:spcAft>
                <a:spcPts val="0"/>
              </a:spcAft>
              <a:defRPr sz="3600" b="1">
                <a:solidFill>
                  <a:srgbClr val="1E1B2E"/>
                </a:solidFill>
                <a:latin typeface="Calibri"/>
              </a:defRPr>
            </a:pPr>
            <a:r>
              <a:t>Honest risk disclosure.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1945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50"/>
              </a:lnSpc>
              <a:spcAft>
                <a:spcPts val="0"/>
              </a:spcAft>
              <a:defRPr sz="1500" b="1">
                <a:solidFill>
                  <a:srgbClr val="C03A4A"/>
                </a:solidFill>
                <a:latin typeface="Calibri"/>
              </a:defRPr>
            </a:pPr>
            <a:r>
              <a:t>Solo founder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0" y="219456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90"/>
              </a:lnSpc>
              <a:spcAft>
                <a:spcPts val="0"/>
              </a:spcAft>
              <a:defRPr sz="1300" b="0">
                <a:solidFill>
                  <a:srgbClr val="645E78"/>
                </a:solidFill>
                <a:latin typeface="Calibri"/>
              </a:defRPr>
            </a:pPr>
            <a:r>
              <a:t>First hires contingent on raise. Mitigant: shipping velocity demonstrates solo-founder productivity; 4 layers + 14 detectors + 6 integrations in &lt; 90 days.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0632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50"/>
              </a:lnSpc>
              <a:spcAft>
                <a:spcPts val="0"/>
              </a:spcAft>
              <a:defRPr sz="1500" b="1">
                <a:solidFill>
                  <a:srgbClr val="C03A4A"/>
                </a:solidFill>
                <a:latin typeface="Calibri"/>
              </a:defRPr>
            </a:pPr>
            <a:r>
              <a:t>Pre-revenue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0" y="3063239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90"/>
              </a:lnSpc>
              <a:spcAft>
                <a:spcPts val="0"/>
              </a:spcAft>
              <a:defRPr sz="1300" b="0">
                <a:solidFill>
                  <a:srgbClr val="645E78"/>
                </a:solidFill>
                <a:latin typeface="Calibri"/>
              </a:defRPr>
            </a:pPr>
            <a:r>
              <a:t>No paying customers yet. Mitigant: Stripe links live, pricing validated against market, regulatory forcing function (EU AI Act Aug 2) creates urgency.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9319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50"/>
              </a:lnSpc>
              <a:spcAft>
                <a:spcPts val="0"/>
              </a:spcAft>
              <a:defRPr sz="1500" b="1">
                <a:solidFill>
                  <a:srgbClr val="C03A4A"/>
                </a:solidFill>
                <a:latin typeface="Calibri"/>
              </a:defRPr>
            </a:pPr>
            <a:r>
              <a:t>Early-stage features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0" y="393192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90"/>
              </a:lnSpc>
              <a:spcAft>
                <a:spcPts val="0"/>
              </a:spcAft>
              <a:defRPr sz="1300" b="0">
                <a:solidFill>
                  <a:srgbClr val="645E78"/>
                </a:solidFill>
                <a:latin typeface="Calibri"/>
              </a:defRPr>
            </a:pPr>
            <a:r>
              <a:t>Layer 4 is Wave 1 alpha. ML-DSA-65 is experimental. AIR Cloud dashboard is in development. Mitigant: core forensic chain and detection are production-grade.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8006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50"/>
              </a:lnSpc>
              <a:spcAft>
                <a:spcPts val="0"/>
              </a:spcAft>
              <a:defRPr sz="1500" b="1">
                <a:solidFill>
                  <a:srgbClr val="C03A4A"/>
                </a:solidFill>
                <a:latin typeface="Calibri"/>
              </a:defRPr>
            </a:pPr>
            <a:r>
              <a:t>Market timing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0" y="480060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90"/>
              </a:lnSpc>
              <a:spcAft>
                <a:spcPts val="0"/>
              </a:spcAft>
              <a:defRPr sz="1300" b="0">
                <a:solidFill>
                  <a:srgbClr val="645E78"/>
                </a:solidFill>
                <a:latin typeface="Calibri"/>
              </a:defRPr>
            </a:pPr>
            <a:r>
              <a:t>Category is forming now. Large vendors (Cisco, NVIDIA, F5) are entering. Mitigant: Vindicara is the only independent, developer-first platform with self-serve pricing and full OWASP coverage.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566927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50"/>
              </a:lnSpc>
              <a:spcAft>
                <a:spcPts val="0"/>
              </a:spcAft>
              <a:defRPr sz="1500" b="1">
                <a:solidFill>
                  <a:srgbClr val="C03A4A"/>
                </a:solidFill>
                <a:latin typeface="Calibri"/>
              </a:defRPr>
            </a:pPr>
            <a:r>
              <a:t>Adoption risk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0400" y="5669279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90"/>
              </a:lnSpc>
              <a:spcAft>
                <a:spcPts val="0"/>
              </a:spcAft>
              <a:defRPr sz="1300" b="0">
                <a:solidFill>
                  <a:srgbClr val="645E78"/>
                </a:solidFill>
                <a:latin typeface="Calibri"/>
              </a:defRPr>
            </a:pPr>
            <a:r>
              <a:t>OSS-to-paid conversion is uncertain. Mitigant: regulatory mandate creates must-have demand; open-core model proven by Snyk, GitLab, Elastic.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54864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0"/>
              </a:lnSpc>
              <a:spcAft>
                <a:spcPts val="0"/>
              </a:spcAft>
              <a:defRPr sz="1100" b="1">
                <a:solidFill>
                  <a:srgbClr val="8B6CB0"/>
                </a:solidFill>
                <a:latin typeface="Consolas"/>
              </a:defRPr>
            </a:pPr>
            <a:r>
              <a:t>CAPITAL EFFICIENCY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0584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4680"/>
              </a:lnSpc>
              <a:spcAft>
                <a:spcPts val="0"/>
              </a:spcAft>
              <a:defRPr sz="3600" b="1">
                <a:solidFill>
                  <a:srgbClr val="1E1B2E"/>
                </a:solidFill>
                <a:latin typeface="Calibri"/>
              </a:defRPr>
            </a:pPr>
            <a:r>
              <a:t>Maximum output per dollar.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2860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340"/>
              </a:lnSpc>
              <a:spcAft>
                <a:spcPts val="0"/>
              </a:spcAft>
              <a:defRPr sz="1800" b="0">
                <a:solidFill>
                  <a:srgbClr val="3D3855"/>
                </a:solidFill>
                <a:latin typeface="Calibri"/>
              </a:defRPr>
            </a:pPr>
            <a:r>
              <a:t>Everything shipped to date was built by a solo founder in &lt; 90 days, pre-raise, on personal runway. That includes a four-layer cryptographic architecture, 14 production detectors, 6 framework integrations, a marketing site, live Stripe checkout, NVIDIA Inception membership, and a dogfooded ops chain on production infrastructure.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3474720"/>
            <a:ext cx="3383280" cy="1371600"/>
          </a:xfrm>
          <a:prstGeom prst="rect">
            <a:avLst/>
          </a:prstGeom>
          <a:solidFill>
            <a:srgbClr val="F0ECF5"/>
          </a:solidFill>
          <a:ln w="12700">
            <a:solidFill>
              <a:srgbClr val="D8D0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82880" rtlCol="0" anchor="ctr"/>
          <a:lstStyle/>
          <a:p>
            <a:pPr algn="ctr">
              <a:defRPr sz="3200" b="1">
                <a:solidFill>
                  <a:srgbClr val="1E1B2E"/>
                </a:solidFill>
                <a:latin typeface="Consolas"/>
              </a:defRPr>
            </a:pPr>
            <a:r>
              <a:t>$0</a:t>
            </a:r>
          </a:p>
          <a:p>
            <a:pPr>
              <a:spcBef>
                <a:spcPts val="800"/>
              </a:spcBef>
              <a:defRPr sz="1200">
                <a:solidFill>
                  <a:srgbClr val="89849B"/>
                </a:solidFill>
                <a:latin typeface="Calibri"/>
              </a:defRPr>
            </a:pPr>
            <a:r>
              <a:t>External capital</a:t>
            </a:r>
            <a:br/>
            <a:r>
              <a:t>raised to date</a:t>
            </a:r>
          </a:p>
        </p:txBody>
      </p:sp>
      <p:sp>
        <p:nvSpPr>
          <p:cNvPr id="6" name="Rectangle 5"/>
          <p:cNvSpPr/>
          <p:nvPr/>
        </p:nvSpPr>
        <p:spPr>
          <a:xfrm>
            <a:off x="4389120" y="3474720"/>
            <a:ext cx="3383280" cy="1371600"/>
          </a:xfrm>
          <a:prstGeom prst="rect">
            <a:avLst/>
          </a:prstGeom>
          <a:solidFill>
            <a:srgbClr val="F0ECF5"/>
          </a:solidFill>
          <a:ln w="12700">
            <a:solidFill>
              <a:srgbClr val="D8D0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82880" rtlCol="0" anchor="ctr"/>
          <a:lstStyle/>
          <a:p>
            <a:pPr algn="ctr">
              <a:defRPr sz="3200" b="1">
                <a:solidFill>
                  <a:srgbClr val="1E1B2E"/>
                </a:solidFill>
                <a:latin typeface="Consolas"/>
              </a:defRPr>
            </a:pPr>
            <a:r>
              <a:t>&lt; 90 days</a:t>
            </a:r>
          </a:p>
          <a:p>
            <a:pPr>
              <a:spcBef>
                <a:spcPts val="800"/>
              </a:spcBef>
              <a:defRPr sz="1200">
                <a:solidFill>
                  <a:srgbClr val="89849B"/>
                </a:solidFill>
                <a:latin typeface="Calibri"/>
              </a:defRPr>
            </a:pPr>
            <a:r>
              <a:t>Time to ship</a:t>
            </a:r>
            <a:br/>
            <a:r>
              <a:t>full four-layer stack</a:t>
            </a:r>
          </a:p>
        </p:txBody>
      </p:sp>
      <p:sp>
        <p:nvSpPr>
          <p:cNvPr id="7" name="Rectangle 6"/>
          <p:cNvSpPr/>
          <p:nvPr/>
        </p:nvSpPr>
        <p:spPr>
          <a:xfrm>
            <a:off x="8046720" y="3474720"/>
            <a:ext cx="3383280" cy="1371600"/>
          </a:xfrm>
          <a:prstGeom prst="rect">
            <a:avLst/>
          </a:prstGeom>
          <a:solidFill>
            <a:srgbClr val="F0ECF5"/>
          </a:solidFill>
          <a:ln w="12700">
            <a:solidFill>
              <a:srgbClr val="D8D0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82880" rtlCol="0" anchor="ctr"/>
          <a:lstStyle/>
          <a:p>
            <a:pPr algn="ctr">
              <a:defRPr sz="3200" b="1">
                <a:solidFill>
                  <a:srgbClr val="1E1B2E"/>
                </a:solidFill>
                <a:latin typeface="Consolas"/>
              </a:defRPr>
            </a:pPr>
            <a:r>
              <a:t>~$5/mo</a:t>
            </a:r>
          </a:p>
          <a:p>
            <a:pPr>
              <a:spcBef>
                <a:spcPts val="800"/>
              </a:spcBef>
              <a:defRPr sz="1200">
                <a:solidFill>
                  <a:srgbClr val="89849B"/>
                </a:solidFill>
                <a:latin typeface="Calibri"/>
              </a:defRPr>
            </a:pPr>
            <a:r>
              <a:t>Current AWS cost</a:t>
            </a:r>
            <a:br/>
            <a:r>
              <a:t>(ops chain dogfood)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530352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600"/>
              </a:lnSpc>
              <a:spcAft>
                <a:spcPts val="0"/>
              </a:spcAft>
              <a:defRPr sz="2000" b="1">
                <a:solidFill>
                  <a:srgbClr val="1E1B2E"/>
                </a:solidFill>
                <a:latin typeface="Calibri"/>
              </a:defRPr>
            </a:pPr>
            <a:r>
              <a:t>What the raise unlocks: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760720"/>
            <a:ext cx="5029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250"/>
              </a:lnSpc>
              <a:spcAft>
                <a:spcPts val="900"/>
              </a:spcAft>
              <a:defRPr sz="1500">
                <a:solidFill>
                  <a:srgbClr val="3D3855"/>
                </a:solidFill>
                <a:latin typeface="Calibri"/>
              </a:defRPr>
            </a:pPr>
            <a:r>
              <a:t>Two senior engineers to harden L1 and ship L4 cross-tenant</a:t>
            </a:r>
          </a:p>
          <a:p>
            <a:pPr>
              <a:lnSpc>
                <a:spcPts val="2250"/>
              </a:lnSpc>
              <a:spcAft>
                <a:spcPts val="900"/>
              </a:spcAft>
              <a:defRPr sz="1500">
                <a:solidFill>
                  <a:srgbClr val="3D3855"/>
                </a:solidFill>
                <a:latin typeface="Calibri"/>
              </a:defRPr>
            </a:pPr>
            <a:r>
              <a:t>Developer relations for LangChain ecosystem OSS adoption</a:t>
            </a:r>
          </a:p>
          <a:p>
            <a:pPr>
              <a:lnSpc>
                <a:spcPts val="2250"/>
              </a:lnSpc>
              <a:spcAft>
                <a:spcPts val="900"/>
              </a:spcAft>
              <a:defRPr sz="1500">
                <a:solidFill>
                  <a:srgbClr val="3D3855"/>
                </a:solidFill>
                <a:latin typeface="Calibri"/>
              </a:defRPr>
            </a:pPr>
            <a:r>
              <a:t>Design partner conversion to 50 customers at $50K ACV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5760720"/>
            <a:ext cx="5029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250"/>
              </a:lnSpc>
              <a:spcAft>
                <a:spcPts val="900"/>
              </a:spcAft>
              <a:defRPr sz="1500">
                <a:solidFill>
                  <a:srgbClr val="3D3855"/>
                </a:solidFill>
                <a:latin typeface="Calibri"/>
              </a:defRPr>
            </a:pPr>
            <a:r>
              <a:t>SOC 2 Type I + third-party SDK security audit</a:t>
            </a:r>
          </a:p>
          <a:p>
            <a:pPr>
              <a:lnSpc>
                <a:spcPts val="2250"/>
              </a:lnSpc>
              <a:spcAft>
                <a:spcPts val="900"/>
              </a:spcAft>
              <a:defRPr sz="1500">
                <a:solidFill>
                  <a:srgbClr val="3D3855"/>
                </a:solidFill>
                <a:latin typeface="Calibri"/>
              </a:defRPr>
            </a:pPr>
            <a:r>
              <a:t>AIR Cloud hosted infrastructure (Team tier)</a:t>
            </a:r>
          </a:p>
          <a:p>
            <a:pPr>
              <a:lnSpc>
                <a:spcPts val="2250"/>
              </a:lnSpc>
              <a:spcAft>
                <a:spcPts val="900"/>
              </a:spcAft>
              <a:defRPr sz="1500">
                <a:solidFill>
                  <a:srgbClr val="3D3855"/>
                </a:solidFill>
                <a:latin typeface="Calibri"/>
              </a:defRPr>
            </a:pPr>
            <a:r>
              <a:t>18 months of runway at current burn trajectory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68767" y="681318"/>
            <a:ext cx="10515600" cy="8511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6240"/>
              </a:lnSpc>
              <a:spcAft>
                <a:spcPts val="0"/>
              </a:spcAft>
              <a:defRPr sz="4800" b="1">
                <a:solidFill>
                  <a:srgbClr val="1E1B2E"/>
                </a:solidFill>
                <a:latin typeface="Calibri"/>
              </a:defRPr>
            </a:pPr>
            <a:r>
              <a:rPr dirty="0"/>
              <a:t>Project </a:t>
            </a:r>
            <a:r>
              <a:rPr dirty="0">
                <a:solidFill>
                  <a:srgbClr val="FF0000"/>
                </a:solidFill>
              </a:rPr>
              <a:t>AIR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965960" y="165132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120"/>
              </a:lnSpc>
              <a:spcAft>
                <a:spcPts val="0"/>
              </a:spcAft>
              <a:defRPr sz="2400" b="0">
                <a:solidFill>
                  <a:srgbClr val="645E78"/>
                </a:solidFill>
                <a:latin typeface="Calibri"/>
              </a:defRPr>
            </a:pPr>
            <a:r>
              <a:rPr dirty="0"/>
              <a:t>Evidence-grade infrastructure for accountable AI agents.</a:t>
            </a:r>
          </a:p>
        </p:txBody>
      </p:sp>
      <p:sp>
        <p:nvSpPr>
          <p:cNvPr id="4" name="Rectangle 3"/>
          <p:cNvSpPr/>
          <p:nvPr/>
        </p:nvSpPr>
        <p:spPr>
          <a:xfrm>
            <a:off x="2943111" y="2442723"/>
            <a:ext cx="6998747" cy="210829"/>
          </a:xfrm>
          <a:prstGeom prst="rect">
            <a:avLst/>
          </a:prstGeom>
          <a:solidFill>
            <a:srgbClr val="8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287331" y="2926080"/>
            <a:ext cx="10515600" cy="4717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120"/>
              </a:lnSpc>
              <a:spcAft>
                <a:spcPts val="0"/>
              </a:spcAft>
              <a:defRPr sz="2400" b="1">
                <a:solidFill>
                  <a:srgbClr val="1E1B2E"/>
                </a:solidFill>
                <a:latin typeface="Calibri"/>
              </a:defRPr>
            </a:pPr>
            <a:r>
              <a:rPr dirty="0"/>
              <a:t>Raising </a:t>
            </a:r>
            <a:r>
              <a:rPr lang="en-US" dirty="0"/>
              <a:t>Pre-Seed round at $500,000</a:t>
            </a:r>
            <a:endParaRPr dirty="0"/>
          </a:p>
        </p:txBody>
      </p:sp>
      <p:sp>
        <p:nvSpPr>
          <p:cNvPr id="6" name="TextBox 5"/>
          <p:cNvSpPr txBox="1"/>
          <p:nvPr/>
        </p:nvSpPr>
        <p:spPr>
          <a:xfrm>
            <a:off x="758415" y="3849636"/>
            <a:ext cx="10515600" cy="1874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700"/>
              </a:lnSpc>
              <a:spcAft>
                <a:spcPts val="1080"/>
              </a:spcAft>
              <a:defRPr sz="1800">
                <a:solidFill>
                  <a:srgbClr val="3D3855"/>
                </a:solidFill>
                <a:latin typeface="Calibri"/>
              </a:defRPr>
            </a:pPr>
            <a:r>
              <a:rPr lang="en-US" dirty="0"/>
              <a:t>Founding COO Identified and joining at round closed. </a:t>
            </a:r>
          </a:p>
          <a:p>
            <a:pPr>
              <a:lnSpc>
                <a:spcPts val="2700"/>
              </a:lnSpc>
              <a:spcAft>
                <a:spcPts val="1080"/>
              </a:spcAft>
              <a:defRPr sz="1800">
                <a:solidFill>
                  <a:srgbClr val="3D3855"/>
                </a:solidFill>
                <a:latin typeface="Calibri"/>
              </a:defRPr>
            </a:pPr>
            <a:r>
              <a:rPr dirty="0"/>
              <a:t>Two senior engineering hires (L1 hardening + L4 </a:t>
            </a:r>
            <a:r>
              <a:rPr lang="en-US" dirty="0"/>
              <a:t>Agent Identity moonshot</a:t>
            </a:r>
            <a:r>
              <a:rPr dirty="0"/>
              <a:t>)</a:t>
            </a:r>
          </a:p>
          <a:p>
            <a:pPr>
              <a:lnSpc>
                <a:spcPts val="2700"/>
              </a:lnSpc>
              <a:spcAft>
                <a:spcPts val="1080"/>
              </a:spcAft>
              <a:defRPr sz="1800">
                <a:solidFill>
                  <a:srgbClr val="3D3855"/>
                </a:solidFill>
                <a:latin typeface="Calibri"/>
              </a:defRPr>
            </a:pPr>
            <a:r>
              <a:rPr dirty="0"/>
              <a:t>Developer relations for OSS ecosystem adoption</a:t>
            </a:r>
          </a:p>
          <a:p>
            <a:pPr>
              <a:lnSpc>
                <a:spcPts val="2700"/>
              </a:lnSpc>
              <a:spcAft>
                <a:spcPts val="1080"/>
              </a:spcAft>
              <a:defRPr sz="1800">
                <a:solidFill>
                  <a:srgbClr val="3D3855"/>
                </a:solidFill>
                <a:latin typeface="Calibri"/>
              </a:defRPr>
            </a:pPr>
            <a:r>
              <a:rPr dirty="0"/>
              <a:t>Design partner conversion: 50 customers at $50K ACV in 18 months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17285" y="640080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080"/>
              </a:lnSpc>
              <a:spcAft>
                <a:spcPts val="0"/>
              </a:spcAft>
              <a:defRPr sz="1600" b="0">
                <a:solidFill>
                  <a:srgbClr val="89849B"/>
                </a:solidFill>
                <a:latin typeface="Consolas"/>
              </a:defRPr>
            </a:pPr>
            <a:r>
              <a:rPr dirty="0"/>
              <a:t>Kevin Minn  |  </a:t>
            </a:r>
            <a:r>
              <a:rPr dirty="0" err="1"/>
              <a:t>Kevin.Minn@vindicara.io</a:t>
            </a:r>
            <a:r>
              <a:rPr dirty="0"/>
              <a:t>  |  </a:t>
            </a:r>
            <a:r>
              <a:rPr dirty="0" err="1"/>
              <a:t>vindicara.io</a:t>
            </a:r>
            <a:endParaRPr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2093</TotalTime>
  <Words>2236</Words>
  <Application>Microsoft Macintosh PowerPoint</Application>
  <PresentationFormat>Widescreen</PresentationFormat>
  <Paragraphs>255</Paragraphs>
  <Slides>16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4" baseType="lpstr">
      <vt:lpstr>Amasis MT Pro</vt:lpstr>
      <vt:lpstr>Apple Braille</vt:lpstr>
      <vt:lpstr>Aptos</vt:lpstr>
      <vt:lpstr>Arial</vt:lpstr>
      <vt:lpstr>Bangla MN</vt:lpstr>
      <vt:lpstr>Broadway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Minn, Kevin</cp:lastModifiedBy>
  <cp:revision>2</cp:revision>
  <dcterms:created xsi:type="dcterms:W3CDTF">2013-01-27T09:14:16Z</dcterms:created>
  <dcterms:modified xsi:type="dcterms:W3CDTF">2026-05-12T17:34:26Z</dcterms:modified>
  <cp:category/>
</cp:coreProperties>
</file>